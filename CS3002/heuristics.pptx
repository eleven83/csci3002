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41"/>
  </p:notesMasterIdLst>
  <p:sldIdLst>
    <p:sldId id="1064" r:id="rId2"/>
    <p:sldId id="256" r:id="rId3"/>
    <p:sldId id="752" r:id="rId4"/>
    <p:sldId id="753" r:id="rId5"/>
    <p:sldId id="1066" r:id="rId6"/>
    <p:sldId id="357" r:id="rId7"/>
    <p:sldId id="358" r:id="rId8"/>
    <p:sldId id="381" r:id="rId9"/>
    <p:sldId id="1065" r:id="rId10"/>
    <p:sldId id="656" r:id="rId11"/>
    <p:sldId id="1074" r:id="rId12"/>
    <p:sldId id="1067" r:id="rId13"/>
    <p:sldId id="1068" r:id="rId14"/>
    <p:sldId id="318" r:id="rId15"/>
    <p:sldId id="326" r:id="rId16"/>
    <p:sldId id="663" r:id="rId17"/>
    <p:sldId id="330" r:id="rId18"/>
    <p:sldId id="341" r:id="rId19"/>
    <p:sldId id="376" r:id="rId20"/>
    <p:sldId id="332" r:id="rId21"/>
    <p:sldId id="1071" r:id="rId22"/>
    <p:sldId id="758" r:id="rId23"/>
    <p:sldId id="759" r:id="rId24"/>
    <p:sldId id="660" r:id="rId25"/>
    <p:sldId id="658" r:id="rId26"/>
    <p:sldId id="665" r:id="rId27"/>
    <p:sldId id="1069" r:id="rId28"/>
    <p:sldId id="1073" r:id="rId29"/>
    <p:sldId id="1072" r:id="rId30"/>
    <p:sldId id="383" r:id="rId31"/>
    <p:sldId id="681" r:id="rId32"/>
    <p:sldId id="640" r:id="rId33"/>
    <p:sldId id="703" r:id="rId34"/>
    <p:sldId id="641" r:id="rId35"/>
    <p:sldId id="642" r:id="rId36"/>
    <p:sldId id="643" r:id="rId37"/>
    <p:sldId id="644" r:id="rId38"/>
    <p:sldId id="645" r:id="rId39"/>
    <p:sldId id="702" r:id="rId4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71E3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357"/>
    <p:restoredTop sz="93820"/>
  </p:normalViewPr>
  <p:slideViewPr>
    <p:cSldViewPr snapToGrid="0" snapToObjects="1">
      <p:cViewPr varScale="1">
        <p:scale>
          <a:sx n="116" d="100"/>
          <a:sy n="116" d="100"/>
        </p:scale>
        <p:origin x="1504" y="18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0DF1B9D-1594-6349-9CDA-D830B4E3E04A}" type="datetimeFigureOut">
              <a:rPr lang="en-US" smtClean="0"/>
              <a:t>10/22/19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7ECC54C-4FAE-9040-9F1E-7CB873F8A131}" type="slidenum">
              <a:rPr lang="en-US" smtClean="0"/>
              <a:t>‹#›</a:t>
            </a:fld>
            <a:endParaRPr lang="en-US"/>
          </a:p>
        </p:txBody>
      </p:sp>
    </p:spTree>
    <p:extLst>
      <p:ext uri="{BB962C8B-B14F-4D97-AF65-F5344CB8AC3E}">
        <p14:creationId xmlns:p14="http://schemas.microsoft.com/office/powerpoint/2010/main" val="2255185162"/>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dl.acm.org/citation.cfm?id=642642" TargetMode="External"/><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onify.psych.gatech.edu/~ben/references/polson_cognitive_walkthroughs_a_method_for_theory-based_evaluation_of_user_interfaces.pdf" TargetMode="External"/><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C26381D-D8CE-1540-8682-86853DC2F740}" type="slidenum">
              <a:rPr lang="en-US" smtClean="0"/>
              <a:t>1</a:t>
            </a:fld>
            <a:endParaRPr lang="en-US"/>
          </a:p>
        </p:txBody>
      </p:sp>
    </p:spTree>
    <p:extLst>
      <p:ext uri="{BB962C8B-B14F-4D97-AF65-F5344CB8AC3E}">
        <p14:creationId xmlns:p14="http://schemas.microsoft.com/office/powerpoint/2010/main" val="36305268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http://media-cache-ec0.pinimg.com/236x/c2/a5/86/c2a58664f589a2447dcb6ca6111e5226.jpg</a:t>
            </a:r>
            <a:endParaRPr lang="en-US" dirty="0"/>
          </a:p>
        </p:txBody>
      </p:sp>
      <p:sp>
        <p:nvSpPr>
          <p:cNvPr id="4" name="Slide Number Placeholder 3"/>
          <p:cNvSpPr>
            <a:spLocks noGrp="1"/>
          </p:cNvSpPr>
          <p:nvPr>
            <p:ph type="sldNum" sz="quarter" idx="10"/>
          </p:nvPr>
        </p:nvSpPr>
        <p:spPr/>
        <p:txBody>
          <a:bodyPr/>
          <a:lstStyle/>
          <a:p>
            <a:fld id="{C7ECC54C-4FAE-9040-9F1E-7CB873F8A131}" type="slidenum">
              <a:rPr lang="en-US" smtClean="0"/>
              <a:t>2</a:t>
            </a:fld>
            <a:endParaRPr lang="en-US"/>
          </a:p>
        </p:txBody>
      </p:sp>
    </p:spTree>
    <p:extLst>
      <p:ext uri="{BB962C8B-B14F-4D97-AF65-F5344CB8AC3E}">
        <p14:creationId xmlns:p14="http://schemas.microsoft.com/office/powerpoint/2010/main" val="11170363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t>If you haven’t tested something, it’s not actually done.</a:t>
            </a:r>
          </a:p>
          <a:p>
            <a:endParaRPr lang="en-US">
              <a:hlinkClick r:id=""/>
            </a:endParaRPr>
          </a:p>
          <a:p>
            <a:r>
              <a:rPr lang="en-US">
                <a:hlinkClick r:id=""/>
              </a:rPr>
              <a:t>https://www.nngroup.com/articles/why-you-only-need-to-test-with-5-users/</a:t>
            </a:r>
            <a:endParaRPr lang="en-US"/>
          </a:p>
        </p:txBody>
      </p:sp>
      <p:sp>
        <p:nvSpPr>
          <p:cNvPr id="4" name="Slide Number Placeholder 3"/>
          <p:cNvSpPr>
            <a:spLocks noGrp="1"/>
          </p:cNvSpPr>
          <p:nvPr>
            <p:ph type="sldNum" sz="quarter" idx="5"/>
          </p:nvPr>
        </p:nvSpPr>
        <p:spPr/>
        <p:txBody>
          <a:bodyPr/>
          <a:lstStyle/>
          <a:p>
            <a:fld id="{6C26381D-D8CE-1540-8682-86853DC2F740}" type="slidenum">
              <a:rPr lang="en-US" smtClean="0"/>
              <a:t>4</a:t>
            </a:fld>
            <a:endParaRPr lang="en-US"/>
          </a:p>
        </p:txBody>
      </p:sp>
    </p:spTree>
    <p:extLst>
      <p:ext uri="{BB962C8B-B14F-4D97-AF65-F5344CB8AC3E}">
        <p14:creationId xmlns:p14="http://schemas.microsoft.com/office/powerpoint/2010/main" val="40388324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7ECC54C-4FAE-9040-9F1E-7CB873F8A131}" type="slidenum">
              <a:rPr lang="en-US" smtClean="0"/>
              <a:t>7</a:t>
            </a:fld>
            <a:endParaRPr lang="en-US"/>
          </a:p>
        </p:txBody>
      </p:sp>
    </p:spTree>
    <p:extLst>
      <p:ext uri="{BB962C8B-B14F-4D97-AF65-F5344CB8AC3E}">
        <p14:creationId xmlns:p14="http://schemas.microsoft.com/office/powerpoint/2010/main" val="188890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 prefer to test</a:t>
            </a:r>
            <a:r>
              <a:rPr lang="en-US" baseline="0"/>
              <a:t> one heuristic at a time </a:t>
            </a:r>
            <a:r>
              <a:rPr lang="mr-IN" baseline="0"/>
              <a:t>–</a:t>
            </a:r>
            <a:r>
              <a:rPr lang="en-US" baseline="0"/>
              <a:t> I have found that it works better</a:t>
            </a:r>
          </a:p>
          <a:p>
            <a:r>
              <a:rPr lang="en-US" baseline="0"/>
              <a:t>Important to test in context. If you just look at a screen, might not </a:t>
            </a:r>
          </a:p>
          <a:p>
            <a:r>
              <a:rPr lang="en-US"/>
              <a:t>Solution</a:t>
            </a:r>
            <a:r>
              <a:rPr lang="en-US" baseline="0"/>
              <a:t> </a:t>
            </a:r>
            <a:r>
              <a:rPr lang="mr-IN" baseline="0"/>
              <a:t>–</a:t>
            </a:r>
            <a:r>
              <a:rPr lang="en-US" baseline="0"/>
              <a:t> don’t get distracted by this</a:t>
            </a:r>
            <a:endParaRPr lang="en-US"/>
          </a:p>
        </p:txBody>
      </p:sp>
      <p:sp>
        <p:nvSpPr>
          <p:cNvPr id="4" name="Slide Number Placeholder 3"/>
          <p:cNvSpPr>
            <a:spLocks noGrp="1"/>
          </p:cNvSpPr>
          <p:nvPr>
            <p:ph type="sldNum" sz="quarter" idx="10"/>
          </p:nvPr>
        </p:nvSpPr>
        <p:spPr/>
        <p:txBody>
          <a:bodyPr/>
          <a:lstStyle/>
          <a:p>
            <a:fld id="{6C26381D-D8CE-1540-8682-86853DC2F740}" type="slidenum">
              <a:rPr lang="en-US" smtClean="0"/>
              <a:t>10</a:t>
            </a:fld>
            <a:endParaRPr lang="en-US"/>
          </a:p>
        </p:txBody>
      </p:sp>
    </p:spTree>
    <p:extLst>
      <p:ext uri="{BB962C8B-B14F-4D97-AF65-F5344CB8AC3E}">
        <p14:creationId xmlns:p14="http://schemas.microsoft.com/office/powerpoint/2010/main" val="3080958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www.nngroup.com</a:t>
            </a:r>
            <a:r>
              <a:rPr lang="en-US" dirty="0"/>
              <a:t>/articles/ten-usability-heuristics/</a:t>
            </a:r>
          </a:p>
        </p:txBody>
      </p:sp>
      <p:sp>
        <p:nvSpPr>
          <p:cNvPr id="4" name="Slide Number Placeholder 3"/>
          <p:cNvSpPr>
            <a:spLocks noGrp="1"/>
          </p:cNvSpPr>
          <p:nvPr>
            <p:ph type="sldNum" sz="quarter" idx="10"/>
          </p:nvPr>
        </p:nvSpPr>
        <p:spPr/>
        <p:txBody>
          <a:bodyPr/>
          <a:lstStyle/>
          <a:p>
            <a:fld id="{C7ECC54C-4FAE-9040-9F1E-7CB873F8A131}" type="slidenum">
              <a:rPr lang="en-US" smtClean="0"/>
              <a:t>16</a:t>
            </a:fld>
            <a:endParaRPr lang="en-US"/>
          </a:p>
        </p:txBody>
      </p:sp>
    </p:spTree>
    <p:extLst>
      <p:ext uri="{BB962C8B-B14F-4D97-AF65-F5344CB8AC3E}">
        <p14:creationId xmlns:p14="http://schemas.microsoft.com/office/powerpoint/2010/main" val="22096886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should we determine severity? (frequency, impact)</a:t>
            </a:r>
          </a:p>
        </p:txBody>
      </p:sp>
      <p:sp>
        <p:nvSpPr>
          <p:cNvPr id="4" name="Slide Number Placeholder 3"/>
          <p:cNvSpPr>
            <a:spLocks noGrp="1"/>
          </p:cNvSpPr>
          <p:nvPr>
            <p:ph type="sldNum" sz="quarter" idx="10"/>
          </p:nvPr>
        </p:nvSpPr>
        <p:spPr/>
        <p:txBody>
          <a:bodyPr/>
          <a:lstStyle/>
          <a:p>
            <a:fld id="{C7ECC54C-4FAE-9040-9F1E-7CB873F8A131}" type="slidenum">
              <a:rPr lang="en-US" smtClean="0"/>
              <a:t>17</a:t>
            </a:fld>
            <a:endParaRPr lang="en-US"/>
          </a:p>
        </p:txBody>
      </p:sp>
    </p:spTree>
    <p:extLst>
      <p:ext uri="{BB962C8B-B14F-4D97-AF65-F5344CB8AC3E}">
        <p14:creationId xmlns:p14="http://schemas.microsoft.com/office/powerpoint/2010/main" val="34361996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in the chart that not all evaluators will find the hard problems,</a:t>
            </a:r>
            <a:r>
              <a:rPr lang="en-US" baseline="0" dirty="0"/>
              <a:t> but they will tend to find the easy ones</a:t>
            </a:r>
            <a:endParaRPr lang="en-US" dirty="0"/>
          </a:p>
        </p:txBody>
      </p:sp>
      <p:sp>
        <p:nvSpPr>
          <p:cNvPr id="4" name="Slide Number Placeholder 3"/>
          <p:cNvSpPr>
            <a:spLocks noGrp="1"/>
          </p:cNvSpPr>
          <p:nvPr>
            <p:ph type="sldNum" sz="quarter" idx="10"/>
          </p:nvPr>
        </p:nvSpPr>
        <p:spPr/>
        <p:txBody>
          <a:bodyPr/>
          <a:lstStyle/>
          <a:p>
            <a:fld id="{F3DB09C2-3629-5242-8E9E-072FB6ED5EEE}" type="slidenum">
              <a:rPr lang="en-US" smtClean="0"/>
              <a:t>20</a:t>
            </a:fld>
            <a:endParaRPr lang="en-US"/>
          </a:p>
        </p:txBody>
      </p:sp>
    </p:spTree>
    <p:extLst>
      <p:ext uri="{BB962C8B-B14F-4D97-AF65-F5344CB8AC3E}">
        <p14:creationId xmlns:p14="http://schemas.microsoft.com/office/powerpoint/2010/main" val="26468003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linkClick r:id="rId3"/>
              </a:rPr>
              <a:t>https://dl.acm.org/citation.cfm?id=642642</a:t>
            </a:r>
            <a:endParaRPr lang="en-US"/>
          </a:p>
        </p:txBody>
      </p:sp>
      <p:sp>
        <p:nvSpPr>
          <p:cNvPr id="4" name="Slide Number Placeholder 3"/>
          <p:cNvSpPr>
            <a:spLocks noGrp="1"/>
          </p:cNvSpPr>
          <p:nvPr>
            <p:ph type="sldNum" sz="quarter" idx="5"/>
          </p:nvPr>
        </p:nvSpPr>
        <p:spPr/>
        <p:txBody>
          <a:bodyPr/>
          <a:lstStyle/>
          <a:p>
            <a:fld id="{6C26381D-D8CE-1540-8682-86853DC2F740}" type="slidenum">
              <a:rPr lang="en-US" smtClean="0"/>
              <a:t>22</a:t>
            </a:fld>
            <a:endParaRPr lang="en-US"/>
          </a:p>
        </p:txBody>
      </p:sp>
    </p:spTree>
    <p:extLst>
      <p:ext uri="{BB962C8B-B14F-4D97-AF65-F5344CB8AC3E}">
        <p14:creationId xmlns:p14="http://schemas.microsoft.com/office/powerpoint/2010/main" val="26715328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Version 1 on left, v2 on right</a:t>
            </a:r>
          </a:p>
        </p:txBody>
      </p:sp>
      <p:sp>
        <p:nvSpPr>
          <p:cNvPr id="4" name="Slide Number Placeholder 3"/>
          <p:cNvSpPr>
            <a:spLocks noGrp="1"/>
          </p:cNvSpPr>
          <p:nvPr>
            <p:ph type="sldNum" sz="quarter" idx="5"/>
          </p:nvPr>
        </p:nvSpPr>
        <p:spPr/>
        <p:txBody>
          <a:bodyPr/>
          <a:lstStyle/>
          <a:p>
            <a:fld id="{6C26381D-D8CE-1540-8682-86853DC2F740}" type="slidenum">
              <a:rPr lang="en-US" smtClean="0"/>
              <a:t>23</a:t>
            </a:fld>
            <a:endParaRPr lang="en-US"/>
          </a:p>
        </p:txBody>
      </p:sp>
    </p:spTree>
    <p:extLst>
      <p:ext uri="{BB962C8B-B14F-4D97-AF65-F5344CB8AC3E}">
        <p14:creationId xmlns:p14="http://schemas.microsoft.com/office/powerpoint/2010/main" val="11646579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shopping site?</a:t>
            </a:r>
          </a:p>
        </p:txBody>
      </p:sp>
      <p:sp>
        <p:nvSpPr>
          <p:cNvPr id="4" name="Slide Number Placeholder 3"/>
          <p:cNvSpPr>
            <a:spLocks noGrp="1"/>
          </p:cNvSpPr>
          <p:nvPr>
            <p:ph type="sldNum" sz="quarter" idx="10"/>
          </p:nvPr>
        </p:nvSpPr>
        <p:spPr/>
        <p:txBody>
          <a:bodyPr/>
          <a:lstStyle/>
          <a:p>
            <a:fld id="{6C26381D-D8CE-1540-8682-86853DC2F740}" type="slidenum">
              <a:rPr lang="en-US" smtClean="0"/>
              <a:t>24</a:t>
            </a:fld>
            <a:endParaRPr lang="en-US"/>
          </a:p>
        </p:txBody>
      </p:sp>
    </p:spTree>
    <p:extLst>
      <p:ext uri="{BB962C8B-B14F-4D97-AF65-F5344CB8AC3E}">
        <p14:creationId xmlns:p14="http://schemas.microsoft.com/office/powerpoint/2010/main" val="17768250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Screenshots</a:t>
            </a:r>
          </a:p>
          <a:p>
            <a:endParaRPr lang="en-US"/>
          </a:p>
          <a:p>
            <a:r>
              <a:rPr lang="en-US"/>
              <a:t>Gmail: https://media.gcflearnfree.org/content/55e073847dd48174331f5193_01_17_2014/intro_labeled_graphic.jpg</a:t>
            </a:r>
          </a:p>
          <a:p>
            <a:r>
              <a:rPr lang="en-US"/>
              <a:t>Google</a:t>
            </a:r>
            <a:r>
              <a:rPr lang="en-US" baseline="0"/>
              <a:t> inbox: http://ericgreer.info/assets/images/googleinboxweb.png</a:t>
            </a:r>
          </a:p>
          <a:p>
            <a:r>
              <a:rPr lang="en-US"/>
              <a:t>Apple Mail: https://support.apple.com/library/content/dam/edam/applecare/images/en_US/osx/yos_mail_conversations.png</a:t>
            </a:r>
          </a:p>
        </p:txBody>
      </p:sp>
      <p:sp>
        <p:nvSpPr>
          <p:cNvPr id="4" name="Slide Number Placeholder 3"/>
          <p:cNvSpPr>
            <a:spLocks noGrp="1"/>
          </p:cNvSpPr>
          <p:nvPr>
            <p:ph type="sldNum" sz="quarter" idx="10"/>
          </p:nvPr>
        </p:nvSpPr>
        <p:spPr/>
        <p:txBody>
          <a:bodyPr/>
          <a:lstStyle/>
          <a:p>
            <a:fld id="{6C26381D-D8CE-1540-8682-86853DC2F740}" type="slidenum">
              <a:rPr lang="en-US" smtClean="0"/>
              <a:t>25</a:t>
            </a:fld>
            <a:endParaRPr lang="en-US"/>
          </a:p>
        </p:txBody>
      </p:sp>
    </p:spTree>
    <p:extLst>
      <p:ext uri="{BB962C8B-B14F-4D97-AF65-F5344CB8AC3E}">
        <p14:creationId xmlns:p14="http://schemas.microsoft.com/office/powerpoint/2010/main" val="4284793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linkClick r:id="rId3"/>
              </a:rPr>
              <a:t>http://sonify.psych.gatech.edu/~ben/references/polson_cognitive_walkthroughs_a_method_for_theory-based_evaluation_of_user_interfaces.pdf</a:t>
            </a:r>
            <a:endParaRPr lang="en-US"/>
          </a:p>
        </p:txBody>
      </p:sp>
      <p:sp>
        <p:nvSpPr>
          <p:cNvPr id="4" name="Slide Number Placeholder 3"/>
          <p:cNvSpPr>
            <a:spLocks noGrp="1"/>
          </p:cNvSpPr>
          <p:nvPr>
            <p:ph type="sldNum" sz="quarter" idx="5"/>
          </p:nvPr>
        </p:nvSpPr>
        <p:spPr/>
        <p:txBody>
          <a:bodyPr/>
          <a:lstStyle/>
          <a:p>
            <a:fld id="{C7ECC54C-4FAE-9040-9F1E-7CB873F8A131}" type="slidenum">
              <a:rPr lang="en-US" smtClean="0"/>
              <a:t>29</a:t>
            </a:fld>
            <a:endParaRPr lang="en-US"/>
          </a:p>
        </p:txBody>
      </p:sp>
    </p:spTree>
    <p:extLst>
      <p:ext uri="{BB962C8B-B14F-4D97-AF65-F5344CB8AC3E}">
        <p14:creationId xmlns:p14="http://schemas.microsoft.com/office/powerpoint/2010/main" val="18901571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b="1">
                <a:latin typeface="Helvetica Neue" charset="0"/>
                <a:ea typeface="Helvetica Neue" charset="0"/>
                <a:cs typeface="Helvetica Neue" charset="0"/>
              </a:defRPr>
            </a:lvl1p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40571252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Title Slide">
    <p:bg>
      <p:bgPr>
        <a:solidFill>
          <a:srgbClr val="0070C0"/>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2464435"/>
          </a:xfrm>
        </p:spPr>
        <p:txBody>
          <a:bodyPr/>
          <a:lstStyle>
            <a:lvl1pPr>
              <a:defRPr b="1">
                <a:latin typeface="Helvetica Neue" charset="0"/>
                <a:ea typeface="Helvetica Neue" charset="0"/>
                <a:cs typeface="Helvetica Neue" charset="0"/>
              </a:defRPr>
            </a:lvl1pPr>
          </a:lstStyle>
          <a:p>
            <a:r>
              <a:rPr lang="en-US"/>
              <a:t>Click to edit Master title style</a:t>
            </a:r>
          </a:p>
        </p:txBody>
      </p:sp>
    </p:spTree>
    <p:extLst>
      <p:ext uri="{BB962C8B-B14F-4D97-AF65-F5344CB8AC3E}">
        <p14:creationId xmlns:p14="http://schemas.microsoft.com/office/powerpoint/2010/main" val="18879706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2_Title Slide">
    <p:bg>
      <p:bgPr>
        <a:solidFill>
          <a:srgbClr val="7030A0"/>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2875915"/>
          </a:xfrm>
        </p:spPr>
        <p:txBody>
          <a:bodyPr/>
          <a:lstStyle>
            <a:lvl1pPr>
              <a:defRPr b="1">
                <a:latin typeface="Helvetica Neue" charset="0"/>
                <a:ea typeface="Helvetica Neue" charset="0"/>
                <a:cs typeface="Helvetica Neue" charset="0"/>
              </a:defRPr>
            </a:lvl1pPr>
          </a:lstStyle>
          <a:p>
            <a:r>
              <a:rPr lang="en-US"/>
              <a:t>Click to edit Master title style</a:t>
            </a:r>
          </a:p>
        </p:txBody>
      </p:sp>
    </p:spTree>
    <p:extLst>
      <p:ext uri="{BB962C8B-B14F-4D97-AF65-F5344CB8AC3E}">
        <p14:creationId xmlns:p14="http://schemas.microsoft.com/office/powerpoint/2010/main" val="30641474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b="1">
                <a:latin typeface="Helvetica Neue" charset="0"/>
                <a:ea typeface="Helvetica Neue" charset="0"/>
                <a:cs typeface="Helvetica Neue" charset="0"/>
              </a:defRPr>
            </a:lvl1pPr>
          </a:lstStyle>
          <a:p>
            <a:r>
              <a:rPr lang="en-US" dirty="0"/>
              <a:t>Click to edit Master title style</a:t>
            </a:r>
          </a:p>
        </p:txBody>
      </p:sp>
      <p:sp>
        <p:nvSpPr>
          <p:cNvPr id="3" name="Content Placeholder 2"/>
          <p:cNvSpPr>
            <a:spLocks noGrp="1"/>
          </p:cNvSpPr>
          <p:nvPr>
            <p:ph idx="1"/>
          </p:nvPr>
        </p:nvSpPr>
        <p:spPr/>
        <p:txBody>
          <a:bodyPr>
            <a:normAutofit/>
          </a:bodyPr>
          <a:lstStyle>
            <a:lvl1pPr>
              <a:spcBef>
                <a:spcPts val="1800"/>
              </a:spcBef>
              <a:spcAft>
                <a:spcPts val="0"/>
              </a:spcAft>
              <a:defRPr sz="2800">
                <a:latin typeface="Helvetica Neue" charset="0"/>
                <a:ea typeface="Helvetica Neue" charset="0"/>
                <a:cs typeface="Helvetica Neue" charset="0"/>
              </a:defRPr>
            </a:lvl1pPr>
            <a:lvl2pPr>
              <a:spcBef>
                <a:spcPts val="600"/>
              </a:spcBef>
              <a:spcAft>
                <a:spcPts val="0"/>
              </a:spcAft>
              <a:defRPr sz="2800">
                <a:latin typeface="Helvetica Neue" charset="0"/>
                <a:ea typeface="Helvetica Neue" charset="0"/>
                <a:cs typeface="Helvetica Neue" charset="0"/>
              </a:defRPr>
            </a:lvl2pPr>
            <a:lvl3pPr>
              <a:spcBef>
                <a:spcPts val="0"/>
              </a:spcBef>
              <a:spcAft>
                <a:spcPts val="1800"/>
              </a:spcAft>
              <a:defRPr sz="2800">
                <a:latin typeface="Helvetica Neue" charset="0"/>
                <a:ea typeface="Helvetica Neue" charset="0"/>
                <a:cs typeface="Helvetica Neue" charset="0"/>
              </a:defRPr>
            </a:lvl3pPr>
            <a:lvl4pPr>
              <a:spcBef>
                <a:spcPts val="0"/>
              </a:spcBef>
              <a:spcAft>
                <a:spcPts val="1800"/>
              </a:spcAft>
              <a:defRPr sz="2800">
                <a:latin typeface="Helvetica Neue" charset="0"/>
                <a:ea typeface="Helvetica Neue" charset="0"/>
                <a:cs typeface="Helvetica Neue" charset="0"/>
              </a:defRPr>
            </a:lvl4pPr>
            <a:lvl5pPr>
              <a:spcBef>
                <a:spcPts val="0"/>
              </a:spcBef>
              <a:spcAft>
                <a:spcPts val="1800"/>
              </a:spcAft>
              <a:defRPr sz="2800">
                <a:latin typeface="Helvetica Neue" charset="0"/>
                <a:ea typeface="Helvetica Neue" charset="0"/>
                <a:cs typeface="Helvetica Neue"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Helvetica Neue" charset="0"/>
                <a:ea typeface="Helvetica Neue" charset="0"/>
                <a:cs typeface="Helvetica Neue" charset="0"/>
              </a:defRPr>
            </a:lvl1pPr>
          </a:lstStyle>
          <a:p>
            <a:fld id="{53FAD56B-19B0-7E49-8A63-E22C22CE478D}" type="datetimeFigureOut">
              <a:rPr lang="en-US" smtClean="0"/>
              <a:pPr/>
              <a:t>10/22/19</a:t>
            </a:fld>
            <a:endParaRPr lang="en-US"/>
          </a:p>
        </p:txBody>
      </p:sp>
      <p:sp>
        <p:nvSpPr>
          <p:cNvPr id="5" name="Footer Placeholder 4"/>
          <p:cNvSpPr>
            <a:spLocks noGrp="1"/>
          </p:cNvSpPr>
          <p:nvPr>
            <p:ph type="ftr" sz="quarter" idx="11"/>
          </p:nvPr>
        </p:nvSpPr>
        <p:spPr/>
        <p:txBody>
          <a:bodyPr/>
          <a:lstStyle>
            <a:lvl1pPr>
              <a:defRPr>
                <a:latin typeface="Helvetica Neue" charset="0"/>
                <a:ea typeface="Helvetica Neue" charset="0"/>
                <a:cs typeface="Helvetica Neue" charset="0"/>
              </a:defRPr>
            </a:lvl1pPr>
          </a:lstStyle>
          <a:p>
            <a:endParaRPr lang="en-US"/>
          </a:p>
        </p:txBody>
      </p:sp>
      <p:sp>
        <p:nvSpPr>
          <p:cNvPr id="6" name="Slide Number Placeholder 5"/>
          <p:cNvSpPr>
            <a:spLocks noGrp="1"/>
          </p:cNvSpPr>
          <p:nvPr>
            <p:ph type="sldNum" sz="quarter" idx="12"/>
          </p:nvPr>
        </p:nvSpPr>
        <p:spPr/>
        <p:txBody>
          <a:bodyPr/>
          <a:lstStyle>
            <a:lvl1pPr>
              <a:defRPr>
                <a:latin typeface="Helvetica Neue" charset="0"/>
                <a:ea typeface="Helvetica Neue" charset="0"/>
                <a:cs typeface="Helvetica Neue" charset="0"/>
              </a:defRPr>
            </a:lvl1pPr>
          </a:lstStyle>
          <a:p>
            <a:fld id="{4ADFE1AD-80BD-8441-B7AB-37A3E1CCA2F9}" type="slidenum">
              <a:rPr lang="en-US" smtClean="0"/>
              <a:pPr/>
              <a:t>‹#›</a:t>
            </a:fld>
            <a:endParaRPr lang="en-US"/>
          </a:p>
        </p:txBody>
      </p:sp>
    </p:spTree>
    <p:extLst>
      <p:ext uri="{BB962C8B-B14F-4D97-AF65-F5344CB8AC3E}">
        <p14:creationId xmlns:p14="http://schemas.microsoft.com/office/powerpoint/2010/main" val="39817042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Title and Content">
    <p:bg>
      <p:bgPr>
        <a:solidFill>
          <a:schemeClr val="bg1">
            <a:lumMod val="65000"/>
            <a:lumOff val="3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9144000" cy="481262"/>
          </a:xfrm>
          <a:solidFill>
            <a:schemeClr val="bg1"/>
          </a:solidFill>
        </p:spPr>
        <p:txBody>
          <a:bodyPr>
            <a:noAutofit/>
          </a:bodyPr>
          <a:lstStyle>
            <a:lvl1pPr algn="l">
              <a:defRPr sz="2400" b="1">
                <a:latin typeface="Helvetica Neue" charset="0"/>
                <a:ea typeface="Helvetica Neue" charset="0"/>
                <a:cs typeface="Helvetica Neue" charset="0"/>
              </a:defRPr>
            </a:lvl1pPr>
          </a:lstStyle>
          <a:p>
            <a:r>
              <a:rPr lang="en-US" dirty="0"/>
              <a:t>Click to edit Master title style</a:t>
            </a:r>
          </a:p>
        </p:txBody>
      </p:sp>
    </p:spTree>
    <p:extLst>
      <p:ext uri="{BB962C8B-B14F-4D97-AF65-F5344CB8AC3E}">
        <p14:creationId xmlns:p14="http://schemas.microsoft.com/office/powerpoint/2010/main" val="31013848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b="1">
                <a:latin typeface="Helvetica Neue" charset="0"/>
                <a:ea typeface="Helvetica Neue" charset="0"/>
                <a:cs typeface="Helvetica Neue" charset="0"/>
              </a:defRPr>
            </a:lvl1pPr>
          </a:lstStyle>
          <a:p>
            <a:r>
              <a:rPr lang="en-US"/>
              <a:t>Click to edit Master title style</a:t>
            </a:r>
          </a:p>
        </p:txBody>
      </p:sp>
      <p:sp>
        <p:nvSpPr>
          <p:cNvPr id="3" name="Content Placeholder 2"/>
          <p:cNvSpPr>
            <a:spLocks noGrp="1"/>
          </p:cNvSpPr>
          <p:nvPr>
            <p:ph sz="half" idx="1"/>
          </p:nvPr>
        </p:nvSpPr>
        <p:spPr>
          <a:xfrm>
            <a:off x="457200" y="1600200"/>
            <a:ext cx="4038600" cy="4983480"/>
          </a:xfrm>
        </p:spPr>
        <p:txBody>
          <a:bodyPr>
            <a:normAutofit/>
          </a:bodyPr>
          <a:lstStyle>
            <a:lvl1pPr>
              <a:defRPr sz="2400">
                <a:latin typeface="Helvetica Neue" charset="0"/>
                <a:ea typeface="Helvetica Neue" charset="0"/>
                <a:cs typeface="Helvetica Neue" charset="0"/>
              </a:defRPr>
            </a:lvl1pPr>
            <a:lvl2pPr>
              <a:defRPr sz="2400">
                <a:latin typeface="Helvetica Neue" charset="0"/>
                <a:ea typeface="Helvetica Neue" charset="0"/>
                <a:cs typeface="Helvetica Neue" charset="0"/>
              </a:defRPr>
            </a:lvl2pPr>
            <a:lvl3pPr>
              <a:defRPr sz="2400">
                <a:latin typeface="Helvetica Neue" charset="0"/>
                <a:ea typeface="Helvetica Neue" charset="0"/>
                <a:cs typeface="Helvetica Neue" charset="0"/>
              </a:defRPr>
            </a:lvl3pPr>
            <a:lvl4pPr>
              <a:defRPr sz="2400">
                <a:latin typeface="Helvetica Neue" charset="0"/>
                <a:ea typeface="Helvetica Neue" charset="0"/>
                <a:cs typeface="Helvetica Neue" charset="0"/>
              </a:defRPr>
            </a:lvl4pPr>
            <a:lvl5pPr>
              <a:defRPr sz="2400">
                <a:latin typeface="Helvetica Neue" charset="0"/>
                <a:ea typeface="Helvetica Neue" charset="0"/>
                <a:cs typeface="Helvetica Neue" charset="0"/>
              </a:defRPr>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983480"/>
          </a:xfrm>
        </p:spPr>
        <p:txBody>
          <a:bodyPr>
            <a:normAutofit/>
          </a:bodyPr>
          <a:lstStyle>
            <a:lvl1pPr>
              <a:defRPr sz="2400">
                <a:latin typeface="Helvetica Neue" charset="0"/>
                <a:ea typeface="Helvetica Neue" charset="0"/>
                <a:cs typeface="Helvetica Neue" charset="0"/>
              </a:defRPr>
            </a:lvl1pPr>
            <a:lvl2pPr>
              <a:defRPr sz="2400">
                <a:latin typeface="Helvetica Neue" charset="0"/>
                <a:ea typeface="Helvetica Neue" charset="0"/>
                <a:cs typeface="Helvetica Neue" charset="0"/>
              </a:defRPr>
            </a:lvl2pPr>
            <a:lvl3pPr>
              <a:defRPr sz="2400">
                <a:latin typeface="Helvetica Neue" charset="0"/>
                <a:ea typeface="Helvetica Neue" charset="0"/>
                <a:cs typeface="Helvetica Neue" charset="0"/>
              </a:defRPr>
            </a:lvl3pPr>
            <a:lvl4pPr>
              <a:defRPr sz="2400">
                <a:latin typeface="Helvetica Neue" charset="0"/>
                <a:ea typeface="Helvetica Neue" charset="0"/>
                <a:cs typeface="Helvetica Neue" charset="0"/>
              </a:defRPr>
            </a:lvl4pPr>
            <a:lvl5pPr>
              <a:defRPr sz="2400">
                <a:latin typeface="Helvetica Neue" charset="0"/>
                <a:ea typeface="Helvetica Neue" charset="0"/>
                <a:cs typeface="Helvetica Neue" charset="0"/>
              </a:defRPr>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720331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FAD56B-19B0-7E49-8A63-E22C22CE478D}" type="datetimeFigureOut">
              <a:rPr lang="en-US" smtClean="0"/>
              <a:t>10/22/19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ADFE1AD-80BD-8441-B7AB-37A3E1CCA2F9}" type="slidenum">
              <a:rPr lang="en-US" smtClean="0"/>
              <a:t>‹#›</a:t>
            </a:fld>
            <a:endParaRPr lang="en-US"/>
          </a:p>
        </p:txBody>
      </p:sp>
    </p:spTree>
    <p:extLst>
      <p:ext uri="{BB962C8B-B14F-4D97-AF65-F5344CB8AC3E}">
        <p14:creationId xmlns:p14="http://schemas.microsoft.com/office/powerpoint/2010/main" val="21048972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FAD56B-19B0-7E49-8A63-E22C22CE478D}" type="datetimeFigureOut">
              <a:rPr lang="en-US" smtClean="0"/>
              <a:t>10/22/19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DFE1AD-80BD-8441-B7AB-37A3E1CCA2F9}" type="slidenum">
              <a:rPr lang="en-US" smtClean="0"/>
              <a:t>‹#›</a:t>
            </a:fld>
            <a:endParaRPr lang="en-US"/>
          </a:p>
        </p:txBody>
      </p:sp>
    </p:spTree>
    <p:extLst>
      <p:ext uri="{BB962C8B-B14F-4D97-AF65-F5344CB8AC3E}">
        <p14:creationId xmlns:p14="http://schemas.microsoft.com/office/powerpoint/2010/main" val="2208443812"/>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hyperlink" Target="http://c2.com/cgi/wiki?HeuristicRule" TargetMode="External"/><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13.tiff"/><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4F429D2-1239-8E4C-8E6B-E26B1055028A}"/>
              </a:ext>
            </a:extLst>
          </p:cNvPr>
          <p:cNvSpPr>
            <a:spLocks noGrp="1"/>
          </p:cNvSpPr>
          <p:nvPr>
            <p:ph type="title"/>
          </p:nvPr>
        </p:nvSpPr>
        <p:spPr>
          <a:xfrm>
            <a:off x="0" y="1"/>
            <a:ext cx="9144000" cy="481262"/>
          </a:xfrm>
        </p:spPr>
        <p:txBody>
          <a:bodyPr/>
          <a:lstStyle/>
          <a:p>
            <a:r>
              <a:rPr lang="en-US"/>
              <a:t>Clicker Q 1</a:t>
            </a:r>
          </a:p>
        </p:txBody>
      </p:sp>
      <p:sp>
        <p:nvSpPr>
          <p:cNvPr id="4" name="Content Placeholder 3">
            <a:extLst>
              <a:ext uri="{FF2B5EF4-FFF2-40B4-BE49-F238E27FC236}">
                <a16:creationId xmlns:a16="http://schemas.microsoft.com/office/drawing/2014/main" id="{491AEF7C-2546-F249-9C0A-0C097E883EB6}"/>
              </a:ext>
            </a:extLst>
          </p:cNvPr>
          <p:cNvSpPr>
            <a:spLocks noGrp="1"/>
          </p:cNvSpPr>
          <p:nvPr>
            <p:ph idx="4294967295"/>
          </p:nvPr>
        </p:nvSpPr>
        <p:spPr>
          <a:xfrm>
            <a:off x="457200" y="791933"/>
            <a:ext cx="8229600" cy="4525962"/>
          </a:xfrm>
        </p:spPr>
        <p:txBody>
          <a:bodyPr>
            <a:normAutofit/>
          </a:bodyPr>
          <a:lstStyle/>
          <a:p>
            <a:pPr marL="0" indent="0">
              <a:buNone/>
            </a:pPr>
            <a:r>
              <a:rPr lang="en-US">
                <a:latin typeface="Helvetica Neue" panose="02000503000000020004" pitchFamily="2" charset="0"/>
                <a:ea typeface="Helvetica Neue" panose="02000503000000020004" pitchFamily="2" charset="0"/>
                <a:cs typeface="Helvetica Neue" panose="02000503000000020004" pitchFamily="2" charset="0"/>
              </a:rPr>
              <a:t>Who is required to run a heuristic evaluation?</a:t>
            </a:r>
          </a:p>
          <a:p>
            <a:endParaRPr lang="en-US" b="1">
              <a:latin typeface="Helvetica Neue" panose="02000503000000020004" pitchFamily="2" charset="0"/>
              <a:ea typeface="Helvetica Neue" panose="02000503000000020004" pitchFamily="2" charset="0"/>
              <a:cs typeface="Helvetica Neue" panose="02000503000000020004" pitchFamily="2" charset="0"/>
            </a:endParaRPr>
          </a:p>
          <a:p>
            <a:r>
              <a:rPr lang="en-US" b="1">
                <a:latin typeface="Helvetica Neue" panose="02000503000000020004" pitchFamily="2" charset="0"/>
                <a:ea typeface="Helvetica Neue" panose="02000503000000020004" pitchFamily="2" charset="0"/>
                <a:cs typeface="Helvetica Neue" panose="02000503000000020004" pitchFamily="2" charset="0"/>
              </a:rPr>
              <a:t>A: tester + test user</a:t>
            </a:r>
          </a:p>
          <a:p>
            <a:r>
              <a:rPr lang="en-US" b="1">
                <a:latin typeface="Helvetica Neue" panose="02000503000000020004" pitchFamily="2" charset="0"/>
                <a:ea typeface="Helvetica Neue" panose="02000503000000020004" pitchFamily="2" charset="0"/>
                <a:cs typeface="Helvetica Neue" panose="02000503000000020004" pitchFamily="2" charset="0"/>
              </a:rPr>
              <a:t>B: tester + test user + note taker</a:t>
            </a:r>
          </a:p>
          <a:p>
            <a:r>
              <a:rPr lang="en-US" b="1">
                <a:latin typeface="Helvetica Neue" panose="02000503000000020004" pitchFamily="2" charset="0"/>
                <a:ea typeface="Helvetica Neue" panose="02000503000000020004" pitchFamily="2" charset="0"/>
                <a:cs typeface="Helvetica Neue" panose="02000503000000020004" pitchFamily="2" charset="0"/>
              </a:rPr>
              <a:t>C: tester only</a:t>
            </a:r>
          </a:p>
          <a:p>
            <a:r>
              <a:rPr lang="en-US" b="1">
                <a:latin typeface="Helvetica Neue" panose="02000503000000020004" pitchFamily="2" charset="0"/>
                <a:ea typeface="Helvetica Neue" panose="02000503000000020004" pitchFamily="2" charset="0"/>
                <a:cs typeface="Helvetica Neue" panose="02000503000000020004" pitchFamily="2" charset="0"/>
              </a:rPr>
              <a:t>D: test user only</a:t>
            </a:r>
          </a:p>
          <a:p>
            <a:pPr marL="0" indent="0">
              <a:buNone/>
            </a:pPr>
            <a:endParaRPr lang="en-US" b="1">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20362092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66846" y="4348480"/>
            <a:ext cx="6927237" cy="2437952"/>
          </a:xfrm>
        </p:spPr>
        <p:txBody>
          <a:bodyPr>
            <a:normAutofit/>
          </a:bodyPr>
          <a:lstStyle/>
          <a:p>
            <a:r>
              <a:rPr lang="en-US" b="1" dirty="0">
                <a:latin typeface="Helvetica Neue" charset="0"/>
                <a:ea typeface="Helvetica Neue" charset="0"/>
                <a:cs typeface="Helvetica Neue" charset="0"/>
              </a:rPr>
              <a:t>Heuristic evaluation</a:t>
            </a:r>
            <a:br>
              <a:rPr lang="en-US" dirty="0">
                <a:latin typeface="Helvetica Neue" charset="0"/>
                <a:ea typeface="Helvetica Neue" charset="0"/>
                <a:cs typeface="Helvetica Neue" charset="0"/>
              </a:rPr>
            </a:br>
            <a:r>
              <a:rPr lang="en-US" sz="2400" b="0" dirty="0">
                <a:latin typeface="Helvetica Neue" charset="0"/>
                <a:ea typeface="Helvetica Neue" charset="0"/>
                <a:cs typeface="Helvetica Neue" charset="0"/>
              </a:rPr>
              <a:t>CSCI 3002 Fall 2019</a:t>
            </a:r>
          </a:p>
        </p:txBody>
      </p:sp>
      <p:pic>
        <p:nvPicPr>
          <p:cNvPr id="5" name="Picture 4"/>
          <p:cNvPicPr>
            <a:picLocks noChangeAspect="1"/>
          </p:cNvPicPr>
          <p:nvPr/>
        </p:nvPicPr>
        <p:blipFill>
          <a:blip r:embed="rId3"/>
          <a:stretch>
            <a:fillRect/>
          </a:stretch>
        </p:blipFill>
        <p:spPr>
          <a:xfrm>
            <a:off x="2430586" y="913548"/>
            <a:ext cx="4579910" cy="3434932"/>
          </a:xfrm>
          <a:prstGeom prst="rect">
            <a:avLst/>
          </a:prstGeom>
        </p:spPr>
      </p:pic>
    </p:spTree>
    <p:extLst>
      <p:ext uri="{BB962C8B-B14F-4D97-AF65-F5344CB8AC3E}">
        <p14:creationId xmlns:p14="http://schemas.microsoft.com/office/powerpoint/2010/main" val="23542651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512EC18-5C7B-234E-95E6-44E6444EED45}"/>
              </a:ext>
            </a:extLst>
          </p:cNvPr>
          <p:cNvSpPr>
            <a:spLocks noGrp="1"/>
          </p:cNvSpPr>
          <p:nvPr>
            <p:ph type="title"/>
          </p:nvPr>
        </p:nvSpPr>
        <p:spPr/>
        <p:txBody>
          <a:bodyPr/>
          <a:lstStyle/>
          <a:p>
            <a:r>
              <a:rPr lang="en-US"/>
              <a:t>How we evaluate our designs</a:t>
            </a:r>
          </a:p>
        </p:txBody>
      </p:sp>
      <p:sp>
        <p:nvSpPr>
          <p:cNvPr id="6" name="Content Placeholder 5">
            <a:extLst>
              <a:ext uri="{FF2B5EF4-FFF2-40B4-BE49-F238E27FC236}">
                <a16:creationId xmlns:a16="http://schemas.microsoft.com/office/drawing/2014/main" id="{34C1D12D-B0D2-FE4F-8B37-4295B9F8E0B5}"/>
              </a:ext>
            </a:extLst>
          </p:cNvPr>
          <p:cNvSpPr>
            <a:spLocks noGrp="1"/>
          </p:cNvSpPr>
          <p:nvPr>
            <p:ph idx="1"/>
          </p:nvPr>
        </p:nvSpPr>
        <p:spPr>
          <a:xfrm>
            <a:off x="457200" y="1600200"/>
            <a:ext cx="8229600" cy="4525963"/>
          </a:xfrm>
        </p:spPr>
        <p:txBody>
          <a:bodyPr/>
          <a:lstStyle/>
          <a:p>
            <a:r>
              <a:rPr lang="en-US" b="1"/>
              <a:t>Design review: </a:t>
            </a:r>
            <a:r>
              <a:rPr lang="en-US"/>
              <a:t>Get people to look at our work and provide feedback</a:t>
            </a:r>
          </a:p>
          <a:p>
            <a:r>
              <a:rPr lang="en-US" b="1"/>
              <a:t>User testing:</a:t>
            </a:r>
            <a:r>
              <a:rPr lang="en-US"/>
              <a:t> Get users to test a real prototype, watch what they do</a:t>
            </a:r>
          </a:p>
          <a:p>
            <a:r>
              <a:rPr lang="en-US" b="1"/>
              <a:t>Heuristic evaluation:</a:t>
            </a:r>
            <a:r>
              <a:rPr lang="en-US"/>
              <a:t> Apply known best practices in a consistent way</a:t>
            </a:r>
            <a:endParaRPr lang="en-US" b="1"/>
          </a:p>
        </p:txBody>
      </p:sp>
    </p:spTree>
    <p:extLst>
      <p:ext uri="{BB962C8B-B14F-4D97-AF65-F5344CB8AC3E}">
        <p14:creationId xmlns:p14="http://schemas.microsoft.com/office/powerpoint/2010/main" val="3278245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fade">
                                      <p:cBhvr>
                                        <p:cTn id="17"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CB068-09FB-9C4B-83A5-605333802457}"/>
              </a:ext>
            </a:extLst>
          </p:cNvPr>
          <p:cNvSpPr>
            <a:spLocks noGrp="1"/>
          </p:cNvSpPr>
          <p:nvPr>
            <p:ph type="title"/>
          </p:nvPr>
        </p:nvSpPr>
        <p:spPr>
          <a:xfrm>
            <a:off x="457200" y="274638"/>
            <a:ext cx="8229600" cy="781078"/>
          </a:xfrm>
        </p:spPr>
        <p:txBody>
          <a:bodyPr>
            <a:normAutofit/>
          </a:bodyPr>
          <a:lstStyle/>
          <a:p>
            <a:r>
              <a:rPr lang="en-US" sz="3600"/>
              <a:t>“Discount” user testing</a:t>
            </a:r>
          </a:p>
        </p:txBody>
      </p:sp>
      <p:sp>
        <p:nvSpPr>
          <p:cNvPr id="3" name="Content Placeholder 2">
            <a:extLst>
              <a:ext uri="{FF2B5EF4-FFF2-40B4-BE49-F238E27FC236}">
                <a16:creationId xmlns:a16="http://schemas.microsoft.com/office/drawing/2014/main" id="{D966713F-A6C9-AE43-98A9-8B08D97ABA51}"/>
              </a:ext>
            </a:extLst>
          </p:cNvPr>
          <p:cNvSpPr>
            <a:spLocks noGrp="1"/>
          </p:cNvSpPr>
          <p:nvPr>
            <p:ph idx="1"/>
          </p:nvPr>
        </p:nvSpPr>
        <p:spPr>
          <a:xfrm>
            <a:off x="457200" y="1271847"/>
            <a:ext cx="8229600" cy="5378335"/>
          </a:xfrm>
        </p:spPr>
        <p:txBody>
          <a:bodyPr>
            <a:normAutofit fontScale="92500" lnSpcReduction="20000"/>
          </a:bodyPr>
          <a:lstStyle/>
          <a:p>
            <a:r>
              <a:rPr lang="en-US"/>
              <a:t>Nielsen found that the majority of </a:t>
            </a:r>
            <a:br>
              <a:rPr lang="en-US"/>
            </a:br>
            <a:r>
              <a:rPr lang="en-US"/>
              <a:t>usability problems can be found </a:t>
            </a:r>
            <a:br>
              <a:rPr lang="en-US"/>
            </a:br>
            <a:r>
              <a:rPr lang="en-US"/>
              <a:t>by a few testers (~5)</a:t>
            </a:r>
          </a:p>
          <a:p>
            <a:r>
              <a:rPr lang="en-US" b="1"/>
              <a:t>Caveats:</a:t>
            </a:r>
          </a:p>
          <a:p>
            <a:pPr lvl="1"/>
            <a:r>
              <a:rPr lang="en-US"/>
              <a:t>Depends on what’s being tested (how complex? how familiar?)</a:t>
            </a:r>
          </a:p>
          <a:p>
            <a:pPr lvl="1"/>
            <a:r>
              <a:rPr lang="en-US"/>
              <a:t>How careful our testing is (are we making mistakes? is experience consistent across participants?)</a:t>
            </a:r>
          </a:p>
          <a:p>
            <a:pPr lvl="1"/>
            <a:r>
              <a:rPr lang="en-US"/>
              <a:t>Not all users will have the same problems (or will benefit from the same solutions)</a:t>
            </a:r>
          </a:p>
          <a:p>
            <a:pPr lvl="1"/>
            <a:r>
              <a:rPr lang="en-US"/>
              <a:t>Must consider atypical users as well (accessibility)</a:t>
            </a:r>
          </a:p>
          <a:p>
            <a:pPr lvl="1"/>
            <a:r>
              <a:rPr lang="en-US"/>
              <a:t>Must iterate on / test fixes</a:t>
            </a:r>
          </a:p>
          <a:p>
            <a:pPr lvl="1"/>
            <a:endParaRPr lang="en-US"/>
          </a:p>
          <a:p>
            <a:pPr lvl="1"/>
            <a:endParaRPr lang="en-US"/>
          </a:p>
          <a:p>
            <a:pPr lvl="1"/>
            <a:endParaRPr lang="en-US"/>
          </a:p>
          <a:p>
            <a:pPr lvl="1"/>
            <a:endParaRPr lang="en-US"/>
          </a:p>
        </p:txBody>
      </p:sp>
      <p:pic>
        <p:nvPicPr>
          <p:cNvPr id="4" name="Picture 3">
            <a:extLst>
              <a:ext uri="{FF2B5EF4-FFF2-40B4-BE49-F238E27FC236}">
                <a16:creationId xmlns:a16="http://schemas.microsoft.com/office/drawing/2014/main" id="{B82C748F-6238-194B-8610-EC3EBA761723}"/>
              </a:ext>
            </a:extLst>
          </p:cNvPr>
          <p:cNvPicPr>
            <a:picLocks noChangeAspect="1"/>
          </p:cNvPicPr>
          <p:nvPr/>
        </p:nvPicPr>
        <p:blipFill rotWithShape="1">
          <a:blip r:embed="rId3"/>
          <a:srcRect l="-1731" t="-4959" r="-1928" b="-4695"/>
          <a:stretch/>
        </p:blipFill>
        <p:spPr>
          <a:xfrm>
            <a:off x="6018415" y="490928"/>
            <a:ext cx="2915040" cy="1842393"/>
          </a:xfrm>
          <a:prstGeom prst="rect">
            <a:avLst/>
          </a:prstGeom>
          <a:solidFill>
            <a:schemeClr val="tx1"/>
          </a:solidFill>
        </p:spPr>
      </p:pic>
    </p:spTree>
    <p:extLst>
      <p:ext uri="{BB962C8B-B14F-4D97-AF65-F5344CB8AC3E}">
        <p14:creationId xmlns:p14="http://schemas.microsoft.com/office/powerpoint/2010/main" val="738988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dissolv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dissolv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dissolv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dissolv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dissolv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dissolve">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07C8A-FA84-8242-8599-62466937E3E5}"/>
              </a:ext>
            </a:extLst>
          </p:cNvPr>
          <p:cNvSpPr>
            <a:spLocks noGrp="1"/>
          </p:cNvSpPr>
          <p:nvPr>
            <p:ph type="title"/>
          </p:nvPr>
        </p:nvSpPr>
        <p:spPr/>
        <p:txBody>
          <a:bodyPr/>
          <a:lstStyle/>
          <a:p>
            <a:r>
              <a:rPr lang="en-US"/>
              <a:t>Heuristic evaluation</a:t>
            </a:r>
          </a:p>
        </p:txBody>
      </p:sp>
      <p:sp>
        <p:nvSpPr>
          <p:cNvPr id="3" name="Content Placeholder 2">
            <a:extLst>
              <a:ext uri="{FF2B5EF4-FFF2-40B4-BE49-F238E27FC236}">
                <a16:creationId xmlns:a16="http://schemas.microsoft.com/office/drawing/2014/main" id="{59C5A546-0B1B-6E43-B062-575C54A28641}"/>
              </a:ext>
            </a:extLst>
          </p:cNvPr>
          <p:cNvSpPr>
            <a:spLocks noGrp="1"/>
          </p:cNvSpPr>
          <p:nvPr>
            <p:ph idx="1"/>
          </p:nvPr>
        </p:nvSpPr>
        <p:spPr/>
        <p:txBody>
          <a:bodyPr/>
          <a:lstStyle/>
          <a:p>
            <a:r>
              <a:rPr lang="en-US"/>
              <a:t>Testing our prototypes based on known usability principles</a:t>
            </a:r>
          </a:p>
          <a:p>
            <a:pPr lvl="1"/>
            <a:r>
              <a:rPr lang="en-US"/>
              <a:t>But doing so in a systematic way </a:t>
            </a:r>
          </a:p>
          <a:p>
            <a:r>
              <a:rPr lang="en-US"/>
              <a:t>A trained tester walks through the interface and evaluates where it meets or violates the rules</a:t>
            </a:r>
          </a:p>
          <a:p>
            <a:r>
              <a:rPr lang="en-US" b="1"/>
              <a:t>Automated-ish. </a:t>
            </a:r>
            <a:r>
              <a:rPr lang="en-US"/>
              <a:t>Rules are pre-defined, but require a human tester</a:t>
            </a:r>
          </a:p>
        </p:txBody>
      </p:sp>
    </p:spTree>
    <p:extLst>
      <p:ext uri="{BB962C8B-B14F-4D97-AF65-F5344CB8AC3E}">
        <p14:creationId xmlns:p14="http://schemas.microsoft.com/office/powerpoint/2010/main" val="220825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ssolv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What’s a heuristic?</a:t>
            </a:r>
          </a:p>
        </p:txBody>
      </p:sp>
      <p:sp>
        <p:nvSpPr>
          <p:cNvPr id="4" name="Content Placeholder 3"/>
          <p:cNvSpPr>
            <a:spLocks noGrp="1"/>
          </p:cNvSpPr>
          <p:nvPr>
            <p:ph idx="1"/>
          </p:nvPr>
        </p:nvSpPr>
        <p:spPr/>
        <p:txBody>
          <a:bodyPr/>
          <a:lstStyle/>
          <a:p>
            <a:r>
              <a:rPr lang="en-US" dirty="0"/>
              <a:t>Give an example</a:t>
            </a:r>
          </a:p>
        </p:txBody>
      </p:sp>
    </p:spTree>
    <p:extLst>
      <p:ext uri="{BB962C8B-B14F-4D97-AF65-F5344CB8AC3E}">
        <p14:creationId xmlns:p14="http://schemas.microsoft.com/office/powerpoint/2010/main" val="22075570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What’s a heuristic?</a:t>
            </a:r>
          </a:p>
        </p:txBody>
      </p:sp>
      <p:sp>
        <p:nvSpPr>
          <p:cNvPr id="4" name="Content Placeholder 3"/>
          <p:cNvSpPr>
            <a:spLocks noGrp="1"/>
          </p:cNvSpPr>
          <p:nvPr>
            <p:ph idx="1"/>
          </p:nvPr>
        </p:nvSpPr>
        <p:spPr>
          <a:xfrm>
            <a:off x="457200" y="1600200"/>
            <a:ext cx="8229600" cy="5096420"/>
          </a:xfrm>
        </p:spPr>
        <p:txBody>
          <a:bodyPr>
            <a:normAutofit fontScale="92500" lnSpcReduction="10000"/>
          </a:bodyPr>
          <a:lstStyle/>
          <a:p>
            <a:r>
              <a:rPr lang="en-US" dirty="0"/>
              <a:t>“experience-based techniques for problem solving, learning, and discovery that find a solution which is not guaranteed to be optimal, but good enough for a given set of goals.” (Wikipedia)</a:t>
            </a:r>
          </a:p>
          <a:p>
            <a:endParaRPr lang="en-US" dirty="0"/>
          </a:p>
          <a:p>
            <a:pPr marL="342900" lvl="1" indent="-342900">
              <a:buFont typeface="Arial" pitchFamily="34" charset="0"/>
              <a:buChar char="•"/>
            </a:pPr>
            <a:r>
              <a:rPr lang="en-US" dirty="0"/>
              <a:t>Examples: </a:t>
            </a:r>
            <a:r>
              <a:rPr lang="en-US" sz="2200" dirty="0"/>
              <a:t>(</a:t>
            </a:r>
            <a:r>
              <a:rPr lang="en-US" sz="2200" dirty="0">
                <a:hlinkClick r:id="rId3"/>
              </a:rPr>
              <a:t>http://c2.com/</a:t>
            </a:r>
            <a:r>
              <a:rPr lang="en-US" sz="2200" dirty="0" err="1">
                <a:hlinkClick r:id="rId3"/>
              </a:rPr>
              <a:t>cgi</a:t>
            </a:r>
            <a:r>
              <a:rPr lang="en-US" sz="2200" dirty="0">
                <a:hlinkClick r:id="rId3"/>
              </a:rPr>
              <a:t>/</a:t>
            </a:r>
            <a:r>
              <a:rPr lang="en-US" sz="2200" dirty="0" err="1">
                <a:hlinkClick r:id="rId3"/>
              </a:rPr>
              <a:t>wiki?HeuristicRule</a:t>
            </a:r>
            <a:r>
              <a:rPr lang="en-US" sz="2200" dirty="0"/>
              <a:t>)</a:t>
            </a:r>
          </a:p>
          <a:p>
            <a:pPr lvl="1"/>
            <a:r>
              <a:rPr lang="en-US" dirty="0"/>
              <a:t>Deciding to eat at restaurant B rather than restaurant A only because B has more cars in its parking lot</a:t>
            </a:r>
          </a:p>
          <a:p>
            <a:pPr lvl="1"/>
            <a:r>
              <a:rPr lang="en-US" dirty="0"/>
              <a:t>When the level in the fuel tank drops to 1/2 tank or less, always filling up the fuel tank at the very next re-filling station. </a:t>
            </a:r>
          </a:p>
          <a:p>
            <a:pPr lvl="1"/>
            <a:endParaRPr lang="en-US" dirty="0"/>
          </a:p>
        </p:txBody>
      </p:sp>
    </p:spTree>
    <p:extLst>
      <p:ext uri="{BB962C8B-B14F-4D97-AF65-F5344CB8AC3E}">
        <p14:creationId xmlns:p14="http://schemas.microsoft.com/office/powerpoint/2010/main" val="34971238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Heuristics</a:t>
            </a:r>
          </a:p>
        </p:txBody>
      </p:sp>
      <p:sp>
        <p:nvSpPr>
          <p:cNvPr id="4" name="Content Placeholder 3"/>
          <p:cNvSpPr>
            <a:spLocks noGrp="1"/>
          </p:cNvSpPr>
          <p:nvPr>
            <p:ph idx="1"/>
          </p:nvPr>
        </p:nvSpPr>
        <p:spPr/>
        <p:txBody>
          <a:bodyPr/>
          <a:lstStyle/>
          <a:p>
            <a:r>
              <a:rPr lang="en-US" dirty="0"/>
              <a:t>How do you identify a good roommate?</a:t>
            </a:r>
          </a:p>
        </p:txBody>
      </p:sp>
    </p:spTree>
    <p:extLst>
      <p:ext uri="{BB962C8B-B14F-4D97-AF65-F5344CB8AC3E}">
        <p14:creationId xmlns:p14="http://schemas.microsoft.com/office/powerpoint/2010/main" val="7861294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Heuristics</a:t>
            </a:r>
          </a:p>
        </p:txBody>
      </p:sp>
      <p:sp>
        <p:nvSpPr>
          <p:cNvPr id="4" name="Content Placeholder 3"/>
          <p:cNvSpPr>
            <a:spLocks noGrp="1"/>
          </p:cNvSpPr>
          <p:nvPr>
            <p:ph idx="1"/>
          </p:nvPr>
        </p:nvSpPr>
        <p:spPr/>
        <p:txBody>
          <a:bodyPr/>
          <a:lstStyle/>
          <a:p>
            <a:r>
              <a:rPr lang="en-US" dirty="0"/>
              <a:t>How do you identify a good roommate?</a:t>
            </a:r>
          </a:p>
          <a:p>
            <a:pPr lvl="1"/>
            <a:r>
              <a:rPr lang="en-US" dirty="0"/>
              <a:t>Pays rent on time</a:t>
            </a:r>
          </a:p>
          <a:p>
            <a:pPr lvl="1"/>
            <a:r>
              <a:rPr lang="en-US" dirty="0"/>
              <a:t>Neat</a:t>
            </a:r>
          </a:p>
          <a:p>
            <a:pPr lvl="1"/>
            <a:r>
              <a:rPr lang="en-US" dirty="0"/>
              <a:t>Respects privacy</a:t>
            </a:r>
          </a:p>
          <a:p>
            <a:pPr lvl="1"/>
            <a:r>
              <a:rPr lang="en-US" dirty="0"/>
              <a:t>Cleans</a:t>
            </a:r>
          </a:p>
          <a:p>
            <a:pPr lvl="1"/>
            <a:r>
              <a:rPr lang="en-US" dirty="0"/>
              <a:t>Doesn’t make you look bad</a:t>
            </a:r>
          </a:p>
          <a:p>
            <a:pPr lvl="1"/>
            <a:r>
              <a:rPr lang="en-US" dirty="0"/>
              <a:t>Honest </a:t>
            </a:r>
          </a:p>
        </p:txBody>
      </p:sp>
    </p:spTree>
    <p:extLst>
      <p:ext uri="{BB962C8B-B14F-4D97-AF65-F5344CB8AC3E}">
        <p14:creationId xmlns:p14="http://schemas.microsoft.com/office/powerpoint/2010/main" val="34561816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88897"/>
          </a:xfrm>
        </p:spPr>
        <p:txBody>
          <a:bodyPr>
            <a:normAutofit/>
          </a:bodyPr>
          <a:lstStyle/>
          <a:p>
            <a:r>
              <a:rPr lang="en-US" sz="3200"/>
              <a:t>How to conduct a heuristic evaluation</a:t>
            </a:r>
          </a:p>
        </p:txBody>
      </p:sp>
      <p:sp>
        <p:nvSpPr>
          <p:cNvPr id="3" name="Content Placeholder 2"/>
          <p:cNvSpPr>
            <a:spLocks noGrp="1"/>
          </p:cNvSpPr>
          <p:nvPr>
            <p:ph idx="1"/>
          </p:nvPr>
        </p:nvSpPr>
        <p:spPr/>
        <p:txBody>
          <a:bodyPr>
            <a:noAutofit/>
          </a:bodyPr>
          <a:lstStyle/>
          <a:p>
            <a:pPr marL="514350" indent="-514350">
              <a:spcBef>
                <a:spcPts val="0"/>
              </a:spcBef>
              <a:spcAft>
                <a:spcPts val="1200"/>
              </a:spcAft>
              <a:buFont typeface="+mj-lt"/>
              <a:buAutoNum type="arabicPeriod"/>
            </a:pPr>
            <a:r>
              <a:rPr lang="en-US" sz="2400"/>
              <a:t>Choose your heuristics (including custom heuristics)</a:t>
            </a:r>
            <a:br>
              <a:rPr lang="en-US" sz="2400"/>
            </a:br>
            <a:endParaRPr lang="en-US" sz="2400"/>
          </a:p>
          <a:p>
            <a:pPr marL="514350" indent="-514350">
              <a:spcBef>
                <a:spcPts val="0"/>
              </a:spcBef>
              <a:spcAft>
                <a:spcPts val="1200"/>
              </a:spcAft>
              <a:buFont typeface="+mj-lt"/>
              <a:buAutoNum type="arabicPeriod"/>
            </a:pPr>
            <a:r>
              <a:rPr lang="en-US" sz="2400"/>
              <a:t>Create a testing path to move through the interface </a:t>
            </a:r>
            <a:br>
              <a:rPr lang="en-US" sz="2400"/>
            </a:br>
            <a:r>
              <a:rPr lang="en-US" sz="2400"/>
              <a:t>(set of tasks or sequence of screens/buttons)</a:t>
            </a:r>
            <a:br>
              <a:rPr lang="en-US" sz="2400"/>
            </a:br>
            <a:endParaRPr lang="en-US" sz="2400"/>
          </a:p>
          <a:p>
            <a:pPr marL="514350" indent="-514350">
              <a:spcBef>
                <a:spcPts val="0"/>
              </a:spcBef>
              <a:spcAft>
                <a:spcPts val="1200"/>
              </a:spcAft>
              <a:buFont typeface="+mj-lt"/>
              <a:buAutoNum type="arabicPeriod"/>
            </a:pPr>
            <a:r>
              <a:rPr lang="en-US" sz="2400"/>
              <a:t>For each screen:</a:t>
            </a:r>
          </a:p>
          <a:p>
            <a:pPr marL="914400" lvl="1" indent="-514350">
              <a:spcBef>
                <a:spcPts val="0"/>
              </a:spcBef>
              <a:spcAft>
                <a:spcPts val="1200"/>
              </a:spcAft>
            </a:pPr>
            <a:r>
              <a:rPr lang="en-US" sz="2400"/>
              <a:t>Check for each heuristic</a:t>
            </a:r>
          </a:p>
          <a:p>
            <a:pPr marL="914400" lvl="1" indent="-514350">
              <a:spcBef>
                <a:spcPts val="0"/>
              </a:spcBef>
              <a:spcAft>
                <a:spcPts val="1200"/>
              </a:spcAft>
            </a:pPr>
            <a:r>
              <a:rPr lang="en-US" sz="2400"/>
              <a:t>Log each problem (can leave details for later)</a:t>
            </a:r>
          </a:p>
        </p:txBody>
      </p:sp>
    </p:spTree>
    <p:extLst>
      <p:ext uri="{BB962C8B-B14F-4D97-AF65-F5344CB8AC3E}">
        <p14:creationId xmlns:p14="http://schemas.microsoft.com/office/powerpoint/2010/main" val="35800874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5F800-C011-9448-8403-16E43E14EC58}"/>
              </a:ext>
            </a:extLst>
          </p:cNvPr>
          <p:cNvSpPr>
            <a:spLocks noGrp="1"/>
          </p:cNvSpPr>
          <p:nvPr>
            <p:ph type="ctrTitle"/>
          </p:nvPr>
        </p:nvSpPr>
        <p:spPr/>
        <p:txBody>
          <a:bodyPr/>
          <a:lstStyle/>
          <a:p>
            <a:r>
              <a:rPr lang="en-US"/>
              <a:t>HE Demo</a:t>
            </a:r>
          </a:p>
        </p:txBody>
      </p:sp>
    </p:spTree>
    <p:extLst>
      <p:ext uri="{BB962C8B-B14F-4D97-AF65-F5344CB8AC3E}">
        <p14:creationId xmlns:p14="http://schemas.microsoft.com/office/powerpoint/2010/main" val="24983738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A44E4-4E55-0743-8E00-19A5E0928FF4}"/>
              </a:ext>
            </a:extLst>
          </p:cNvPr>
          <p:cNvSpPr>
            <a:spLocks noGrp="1"/>
          </p:cNvSpPr>
          <p:nvPr>
            <p:ph type="title"/>
          </p:nvPr>
        </p:nvSpPr>
        <p:spPr/>
        <p:txBody>
          <a:bodyPr/>
          <a:lstStyle/>
          <a:p>
            <a:r>
              <a:rPr lang="en-US"/>
              <a:t>After the evaluation</a:t>
            </a:r>
          </a:p>
        </p:txBody>
      </p:sp>
      <p:sp>
        <p:nvSpPr>
          <p:cNvPr id="3" name="Content Placeholder 2">
            <a:extLst>
              <a:ext uri="{FF2B5EF4-FFF2-40B4-BE49-F238E27FC236}">
                <a16:creationId xmlns:a16="http://schemas.microsoft.com/office/drawing/2014/main" id="{3C779DEF-7E54-ED4A-800B-85A31813009B}"/>
              </a:ext>
            </a:extLst>
          </p:cNvPr>
          <p:cNvSpPr>
            <a:spLocks noGrp="1"/>
          </p:cNvSpPr>
          <p:nvPr>
            <p:ph idx="1"/>
          </p:nvPr>
        </p:nvSpPr>
        <p:spPr/>
        <p:txBody>
          <a:bodyPr/>
          <a:lstStyle/>
          <a:p>
            <a:pPr>
              <a:spcBef>
                <a:spcPts val="0"/>
              </a:spcBef>
              <a:spcAft>
                <a:spcPts val="1200"/>
              </a:spcAft>
            </a:pPr>
            <a:r>
              <a:rPr lang="en-US"/>
              <a:t>Complete documentation for each problem</a:t>
            </a:r>
            <a:br>
              <a:rPr lang="en-US"/>
            </a:br>
            <a:r>
              <a:rPr lang="en-US"/>
              <a:t>—detailed description, screen shot, which heuristic is being violated?, severity (high, medium, low), suggested solution (maybe)</a:t>
            </a:r>
          </a:p>
          <a:p>
            <a:pPr lvl="1">
              <a:spcBef>
                <a:spcPts val="0"/>
              </a:spcBef>
              <a:spcAft>
                <a:spcPts val="1200"/>
              </a:spcAft>
            </a:pPr>
            <a:r>
              <a:rPr lang="en-US"/>
              <a:t>Log in bug tracker or as UAR</a:t>
            </a:r>
            <a:br>
              <a:rPr lang="en-US"/>
            </a:br>
            <a:endParaRPr lang="en-US"/>
          </a:p>
          <a:p>
            <a:pPr>
              <a:spcBef>
                <a:spcPts val="0"/>
              </a:spcBef>
              <a:spcAft>
                <a:spcPts val="1200"/>
              </a:spcAft>
            </a:pPr>
            <a:r>
              <a:rPr lang="en-US"/>
              <a:t>Prioritize issues and fix them (or pass them on to someone who will)</a:t>
            </a:r>
          </a:p>
          <a:p>
            <a:endParaRPr lang="en-US"/>
          </a:p>
        </p:txBody>
      </p:sp>
    </p:spTree>
    <p:extLst>
      <p:ext uri="{BB962C8B-B14F-4D97-AF65-F5344CB8AC3E}">
        <p14:creationId xmlns:p14="http://schemas.microsoft.com/office/powerpoint/2010/main" val="25051847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86CD4-2EFF-DE4C-B7ED-2C119C833497}"/>
              </a:ext>
            </a:extLst>
          </p:cNvPr>
          <p:cNvSpPr>
            <a:spLocks noGrp="1"/>
          </p:cNvSpPr>
          <p:nvPr>
            <p:ph type="title"/>
          </p:nvPr>
        </p:nvSpPr>
        <p:spPr/>
        <p:txBody>
          <a:bodyPr/>
          <a:lstStyle/>
          <a:p>
            <a:r>
              <a:rPr lang="en-US"/>
              <a:t>HEs: When &amp; Who</a:t>
            </a:r>
          </a:p>
        </p:txBody>
      </p:sp>
      <p:sp>
        <p:nvSpPr>
          <p:cNvPr id="3" name="Content Placeholder 2">
            <a:extLst>
              <a:ext uri="{FF2B5EF4-FFF2-40B4-BE49-F238E27FC236}">
                <a16:creationId xmlns:a16="http://schemas.microsoft.com/office/drawing/2014/main" id="{6062502A-A609-2648-A114-6585E7B7D18A}"/>
              </a:ext>
            </a:extLst>
          </p:cNvPr>
          <p:cNvSpPr>
            <a:spLocks noGrp="1"/>
          </p:cNvSpPr>
          <p:nvPr>
            <p:ph idx="1"/>
          </p:nvPr>
        </p:nvSpPr>
        <p:spPr/>
        <p:txBody>
          <a:bodyPr/>
          <a:lstStyle/>
          <a:p>
            <a:r>
              <a:rPr lang="en-US" b="1"/>
              <a:t>When to do an HE?</a:t>
            </a:r>
          </a:p>
          <a:p>
            <a:pPr lvl="1"/>
            <a:r>
              <a:rPr lang="en-US"/>
              <a:t>After any major change to the interaction</a:t>
            </a:r>
          </a:p>
          <a:p>
            <a:pPr lvl="1"/>
            <a:endParaRPr lang="en-US"/>
          </a:p>
          <a:p>
            <a:r>
              <a:rPr lang="en-US" b="1"/>
              <a:t>Who should do the test?</a:t>
            </a:r>
          </a:p>
          <a:p>
            <a:pPr lvl="1"/>
            <a:r>
              <a:rPr lang="en-US"/>
              <a:t>A trained usability professional</a:t>
            </a:r>
          </a:p>
          <a:p>
            <a:pPr lvl="1"/>
            <a:r>
              <a:rPr lang="en-US"/>
              <a:t>Or a domain expert</a:t>
            </a:r>
          </a:p>
          <a:p>
            <a:pPr lvl="1"/>
            <a:r>
              <a:rPr lang="en-US"/>
              <a:t>It can be the person who created it, </a:t>
            </a:r>
            <a:br>
              <a:rPr lang="en-US"/>
            </a:br>
            <a:r>
              <a:rPr lang="en-US"/>
              <a:t>but they may have blind spots</a:t>
            </a:r>
          </a:p>
        </p:txBody>
      </p:sp>
    </p:spTree>
    <p:extLst>
      <p:ext uri="{BB962C8B-B14F-4D97-AF65-F5344CB8AC3E}">
        <p14:creationId xmlns:p14="http://schemas.microsoft.com/office/powerpoint/2010/main" val="2220090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dissolv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dissolve">
                                      <p:cBhvr>
                                        <p:cTn id="15" dur="500"/>
                                        <p:tgtEl>
                                          <p:spTgt spid="3">
                                            <p:txEl>
                                              <p:pRg st="3" end="3"/>
                                            </p:txEl>
                                          </p:spTgt>
                                        </p:tgtEl>
                                      </p:cBhvr>
                                    </p:animEffect>
                                  </p:childTnLst>
                                </p:cTn>
                              </p:par>
                              <p:par>
                                <p:cTn id="16" presetID="9" presetClass="entr" presetSubtype="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dissolve">
                                      <p:cBhvr>
                                        <p:cTn id="18" dur="500"/>
                                        <p:tgtEl>
                                          <p:spTgt spid="3">
                                            <p:txEl>
                                              <p:pRg st="4" end="4"/>
                                            </p:txEl>
                                          </p:spTgt>
                                        </p:tgtEl>
                                      </p:cBhvr>
                                    </p:animEffect>
                                  </p:childTnLst>
                                </p:cTn>
                              </p:par>
                              <p:par>
                                <p:cTn id="19" presetID="9"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dissolve">
                                      <p:cBhvr>
                                        <p:cTn id="21" dur="500"/>
                                        <p:tgtEl>
                                          <p:spTgt spid="3">
                                            <p:txEl>
                                              <p:pRg st="5" end="5"/>
                                            </p:txEl>
                                          </p:spTgt>
                                        </p:tgtEl>
                                      </p:cBhvr>
                                    </p:animEffect>
                                  </p:childTnLst>
                                </p:cTn>
                              </p:par>
                              <p:par>
                                <p:cTn id="22" presetID="9" presetClass="entr" presetSubtype="0" fill="hold"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dissolve">
                                      <p:cBhvr>
                                        <p:cTn id="24"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 vs. user testing</a:t>
            </a:r>
          </a:p>
        </p:txBody>
      </p:sp>
      <p:sp>
        <p:nvSpPr>
          <p:cNvPr id="3" name="Content Placeholder 2"/>
          <p:cNvSpPr>
            <a:spLocks noGrp="1"/>
          </p:cNvSpPr>
          <p:nvPr>
            <p:ph sz="half" idx="1"/>
          </p:nvPr>
        </p:nvSpPr>
        <p:spPr>
          <a:xfrm>
            <a:off x="457200" y="1600200"/>
            <a:ext cx="4038600" cy="5108944"/>
          </a:xfrm>
        </p:spPr>
        <p:txBody>
          <a:bodyPr>
            <a:normAutofit lnSpcReduction="10000"/>
          </a:bodyPr>
          <a:lstStyle/>
          <a:p>
            <a:pPr marL="0" indent="0">
              <a:buNone/>
            </a:pPr>
            <a:r>
              <a:rPr lang="en-US" b="1" dirty="0"/>
              <a:t>Benefits of HE</a:t>
            </a:r>
          </a:p>
          <a:p>
            <a:pPr>
              <a:spcBef>
                <a:spcPts val="1600"/>
              </a:spcBef>
            </a:pPr>
            <a:r>
              <a:rPr lang="en-US" dirty="0"/>
              <a:t>Can do it quickly</a:t>
            </a:r>
          </a:p>
          <a:p>
            <a:pPr>
              <a:spcBef>
                <a:spcPts val="1600"/>
              </a:spcBef>
            </a:pPr>
            <a:r>
              <a:rPr lang="en-US" dirty="0"/>
              <a:t>Doesn’t require recruiting externals</a:t>
            </a:r>
          </a:p>
          <a:p>
            <a:pPr>
              <a:spcBef>
                <a:spcPts val="1600"/>
              </a:spcBef>
            </a:pPr>
            <a:r>
              <a:rPr lang="en-US" dirty="0"/>
              <a:t>Can test repeatedly to test for regression errors</a:t>
            </a:r>
          </a:p>
          <a:p>
            <a:pPr>
              <a:spcBef>
                <a:spcPts val="1600"/>
              </a:spcBef>
            </a:pPr>
            <a:r>
              <a:rPr lang="en-US" dirty="0"/>
              <a:t>Can test more thoroughly (which may be tedious in a user test)</a:t>
            </a:r>
          </a:p>
          <a:p>
            <a:pPr>
              <a:spcBef>
                <a:spcPts val="1600"/>
              </a:spcBef>
            </a:pPr>
            <a:r>
              <a:rPr lang="en-US" dirty="0"/>
              <a:t>Can explain </a:t>
            </a:r>
            <a:r>
              <a:rPr lang="en-US" b="1" dirty="0"/>
              <a:t>why</a:t>
            </a:r>
            <a:r>
              <a:rPr lang="en-US" dirty="0"/>
              <a:t> problems exist</a:t>
            </a:r>
          </a:p>
        </p:txBody>
      </p:sp>
      <p:sp>
        <p:nvSpPr>
          <p:cNvPr id="4" name="Content Placeholder 3">
            <a:extLst>
              <a:ext uri="{FF2B5EF4-FFF2-40B4-BE49-F238E27FC236}">
                <a16:creationId xmlns:a16="http://schemas.microsoft.com/office/drawing/2014/main" id="{1D923C93-BE57-2347-BEB1-B1212E525A04}"/>
              </a:ext>
            </a:extLst>
          </p:cNvPr>
          <p:cNvSpPr>
            <a:spLocks noGrp="1"/>
          </p:cNvSpPr>
          <p:nvPr>
            <p:ph sz="half" idx="2"/>
          </p:nvPr>
        </p:nvSpPr>
        <p:spPr/>
        <p:txBody>
          <a:bodyPr>
            <a:normAutofit lnSpcReduction="10000"/>
          </a:bodyPr>
          <a:lstStyle/>
          <a:p>
            <a:pPr marL="0" indent="0">
              <a:buNone/>
            </a:pPr>
            <a:r>
              <a:rPr lang="en-US" b="1"/>
              <a:t>Benefits of User Testing</a:t>
            </a:r>
          </a:p>
          <a:p>
            <a:pPr>
              <a:spcBef>
                <a:spcPts val="1600"/>
              </a:spcBef>
            </a:pPr>
            <a:r>
              <a:rPr lang="en-US"/>
              <a:t>If a user finds a problem, we know it’s real</a:t>
            </a:r>
          </a:p>
          <a:p>
            <a:pPr>
              <a:spcBef>
                <a:spcPts val="1600"/>
              </a:spcBef>
            </a:pPr>
            <a:r>
              <a:rPr lang="en-US"/>
              <a:t>Discover problems that we might miss</a:t>
            </a:r>
          </a:p>
          <a:p>
            <a:pPr>
              <a:spcBef>
                <a:spcPts val="1600"/>
              </a:spcBef>
            </a:pPr>
            <a:r>
              <a:rPr lang="en-US"/>
              <a:t>Reflects realistic use scenarios </a:t>
            </a:r>
            <a:br>
              <a:rPr lang="en-US"/>
            </a:br>
            <a:r>
              <a:rPr lang="en-US"/>
              <a:t>(vs. a systematic test)</a:t>
            </a:r>
          </a:p>
          <a:p>
            <a:pPr marL="0" indent="0">
              <a:buNone/>
            </a:pPr>
            <a:endParaRPr lang="en-US"/>
          </a:p>
        </p:txBody>
      </p:sp>
    </p:spTree>
    <p:extLst>
      <p:ext uri="{BB962C8B-B14F-4D97-AF65-F5344CB8AC3E}">
        <p14:creationId xmlns:p14="http://schemas.microsoft.com/office/powerpoint/2010/main" val="22542575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Which heuristics to use?</a:t>
            </a:r>
          </a:p>
        </p:txBody>
      </p:sp>
      <p:sp>
        <p:nvSpPr>
          <p:cNvPr id="3" name="Content Placeholder 2"/>
          <p:cNvSpPr>
            <a:spLocks noGrp="1"/>
          </p:cNvSpPr>
          <p:nvPr>
            <p:ph idx="1"/>
          </p:nvPr>
        </p:nvSpPr>
        <p:spPr/>
        <p:txBody>
          <a:bodyPr/>
          <a:lstStyle/>
          <a:p>
            <a:r>
              <a:rPr lang="en-US" dirty="0"/>
              <a:t>Many possible heuristic sets</a:t>
            </a:r>
          </a:p>
          <a:p>
            <a:r>
              <a:rPr lang="en-US" dirty="0"/>
              <a:t>Some standard sets (e.g. Nielsen’s usability heuristics)</a:t>
            </a:r>
          </a:p>
          <a:p>
            <a:r>
              <a:rPr lang="en-US" dirty="0"/>
              <a:t>You might create your own heuristics, e.g. for specific applications</a:t>
            </a:r>
          </a:p>
          <a:p>
            <a:endParaRPr lang="en-US" dirty="0"/>
          </a:p>
          <a:p>
            <a:r>
              <a:rPr lang="en-US" dirty="0"/>
              <a:t>We’ll focus on Nielsen’s, which cover a range of </a:t>
            </a:r>
            <a:r>
              <a:rPr lang="en-US" b="1" dirty="0"/>
              <a:t>general</a:t>
            </a:r>
            <a:r>
              <a:rPr lang="en-US" dirty="0"/>
              <a:t> usability issues</a:t>
            </a:r>
          </a:p>
        </p:txBody>
      </p:sp>
    </p:spTree>
    <p:extLst>
      <p:ext uri="{BB962C8B-B14F-4D97-AF65-F5344CB8AC3E}">
        <p14:creationId xmlns:p14="http://schemas.microsoft.com/office/powerpoint/2010/main" val="21917995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half" idx="1"/>
          </p:nvPr>
        </p:nvSpPr>
        <p:spPr>
          <a:xfrm>
            <a:off x="189571" y="195146"/>
            <a:ext cx="4038600" cy="6517888"/>
          </a:xfrm>
        </p:spPr>
        <p:txBody>
          <a:bodyPr>
            <a:noAutofit/>
          </a:bodyPr>
          <a:lstStyle/>
          <a:p>
            <a:pPr marL="0" indent="0">
              <a:buNone/>
            </a:pPr>
            <a:r>
              <a:rPr lang="en-US" sz="1250" b="1" dirty="0">
                <a:latin typeface="Helvetica Neue" charset="0"/>
                <a:ea typeface="Helvetica Neue" charset="0"/>
                <a:cs typeface="Helvetica Neue" charset="0"/>
              </a:rPr>
              <a:t>Visibility of system status</a:t>
            </a:r>
          </a:p>
          <a:p>
            <a:pPr marL="0" indent="0">
              <a:buNone/>
            </a:pPr>
            <a:r>
              <a:rPr lang="en-US" sz="1250" dirty="0">
                <a:latin typeface="Helvetica Neue" charset="0"/>
                <a:ea typeface="Helvetica Neue" charset="0"/>
                <a:cs typeface="Helvetica Neue" charset="0"/>
              </a:rPr>
              <a:t>The system should always keep users informed about what is going on, through appropriate feedback within reasonable time.</a:t>
            </a:r>
          </a:p>
          <a:p>
            <a:pPr marL="0" indent="0">
              <a:buNone/>
            </a:pPr>
            <a:r>
              <a:rPr lang="sk-SK" sz="1250" dirty="0">
                <a:latin typeface="Helvetica Neue" charset="0"/>
                <a:ea typeface="Helvetica Neue" charset="0"/>
                <a:cs typeface="Helvetica Neue" charset="0"/>
              </a:rPr>
              <a:t> </a:t>
            </a:r>
          </a:p>
          <a:p>
            <a:pPr marL="0" indent="0">
              <a:buNone/>
            </a:pPr>
            <a:r>
              <a:rPr lang="sk-SK" sz="1250" b="1" dirty="0" err="1">
                <a:latin typeface="Helvetica Neue" charset="0"/>
                <a:ea typeface="Helvetica Neue" charset="0"/>
                <a:cs typeface="Helvetica Neue" charset="0"/>
              </a:rPr>
              <a:t>Match</a:t>
            </a:r>
            <a:r>
              <a:rPr lang="sk-SK" sz="1250" b="1" dirty="0">
                <a:latin typeface="Helvetica Neue" charset="0"/>
                <a:ea typeface="Helvetica Neue" charset="0"/>
                <a:cs typeface="Helvetica Neue" charset="0"/>
              </a:rPr>
              <a:t> </a:t>
            </a:r>
            <a:r>
              <a:rPr lang="sk-SK" sz="1250" b="1" dirty="0" err="1">
                <a:latin typeface="Helvetica Neue" charset="0"/>
                <a:ea typeface="Helvetica Neue" charset="0"/>
                <a:cs typeface="Helvetica Neue" charset="0"/>
              </a:rPr>
              <a:t>between</a:t>
            </a:r>
            <a:r>
              <a:rPr lang="sk-SK" sz="1250" b="1" dirty="0">
                <a:latin typeface="Helvetica Neue" charset="0"/>
                <a:ea typeface="Helvetica Neue" charset="0"/>
                <a:cs typeface="Helvetica Neue" charset="0"/>
              </a:rPr>
              <a:t> </a:t>
            </a:r>
            <a:r>
              <a:rPr lang="sk-SK" sz="1250" b="1" dirty="0" err="1">
                <a:latin typeface="Helvetica Neue" charset="0"/>
                <a:ea typeface="Helvetica Neue" charset="0"/>
                <a:cs typeface="Helvetica Neue" charset="0"/>
              </a:rPr>
              <a:t>system</a:t>
            </a:r>
            <a:r>
              <a:rPr lang="sk-SK" sz="1250" b="1" dirty="0">
                <a:latin typeface="Helvetica Neue" charset="0"/>
                <a:ea typeface="Helvetica Neue" charset="0"/>
                <a:cs typeface="Helvetica Neue" charset="0"/>
              </a:rPr>
              <a:t> and </a:t>
            </a:r>
            <a:r>
              <a:rPr lang="sk-SK" sz="1250" b="1" dirty="0" err="1">
                <a:latin typeface="Helvetica Neue" charset="0"/>
                <a:ea typeface="Helvetica Neue" charset="0"/>
                <a:cs typeface="Helvetica Neue" charset="0"/>
              </a:rPr>
              <a:t>the</a:t>
            </a:r>
            <a:r>
              <a:rPr lang="sk-SK" sz="1250" b="1" dirty="0">
                <a:latin typeface="Helvetica Neue" charset="0"/>
                <a:ea typeface="Helvetica Neue" charset="0"/>
                <a:cs typeface="Helvetica Neue" charset="0"/>
              </a:rPr>
              <a:t> </a:t>
            </a:r>
            <a:r>
              <a:rPr lang="sk-SK" sz="1250" b="1" dirty="0" err="1">
                <a:latin typeface="Helvetica Neue" charset="0"/>
                <a:ea typeface="Helvetica Neue" charset="0"/>
                <a:cs typeface="Helvetica Neue" charset="0"/>
              </a:rPr>
              <a:t>real</a:t>
            </a:r>
            <a:r>
              <a:rPr lang="sk-SK" sz="1250" b="1" dirty="0">
                <a:latin typeface="Helvetica Neue" charset="0"/>
                <a:ea typeface="Helvetica Neue" charset="0"/>
                <a:cs typeface="Helvetica Neue" charset="0"/>
              </a:rPr>
              <a:t> </a:t>
            </a:r>
            <a:r>
              <a:rPr lang="sk-SK" sz="1250" b="1" dirty="0" err="1">
                <a:latin typeface="Helvetica Neue" charset="0"/>
                <a:ea typeface="Helvetica Neue" charset="0"/>
                <a:cs typeface="Helvetica Neue" charset="0"/>
              </a:rPr>
              <a:t>world</a:t>
            </a:r>
            <a:endParaRPr lang="sk-SK" sz="1250" b="1" dirty="0">
              <a:latin typeface="Helvetica Neue" charset="0"/>
              <a:ea typeface="Helvetica Neue" charset="0"/>
              <a:cs typeface="Helvetica Neue" charset="0"/>
            </a:endParaRPr>
          </a:p>
          <a:p>
            <a:pPr marL="0" indent="0">
              <a:buNone/>
            </a:pPr>
            <a:r>
              <a:rPr lang="sk-SK" sz="1250" dirty="0" err="1">
                <a:latin typeface="Helvetica Neue" charset="0"/>
                <a:ea typeface="Helvetica Neue" charset="0"/>
                <a:cs typeface="Helvetica Neue" charset="0"/>
              </a:rPr>
              <a:t>The</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system</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should</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speak</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the</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users</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language</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with</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words</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phrases</a:t>
            </a:r>
            <a:r>
              <a:rPr lang="sk-SK" sz="1250" dirty="0">
                <a:latin typeface="Helvetica Neue" charset="0"/>
                <a:ea typeface="Helvetica Neue" charset="0"/>
                <a:cs typeface="Helvetica Neue" charset="0"/>
              </a:rPr>
              <a:t> and </a:t>
            </a:r>
            <a:r>
              <a:rPr lang="sk-SK" sz="1250" dirty="0" err="1">
                <a:latin typeface="Helvetica Neue" charset="0"/>
                <a:ea typeface="Helvetica Neue" charset="0"/>
                <a:cs typeface="Helvetica Neue" charset="0"/>
              </a:rPr>
              <a:t>concepts</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familiar</a:t>
            </a:r>
            <a:r>
              <a:rPr lang="sk-SK" sz="1250" dirty="0">
                <a:latin typeface="Helvetica Neue" charset="0"/>
                <a:ea typeface="Helvetica Neue" charset="0"/>
                <a:cs typeface="Helvetica Neue" charset="0"/>
              </a:rPr>
              <a:t> to </a:t>
            </a:r>
            <a:r>
              <a:rPr lang="sk-SK" sz="1250" dirty="0" err="1">
                <a:latin typeface="Helvetica Neue" charset="0"/>
                <a:ea typeface="Helvetica Neue" charset="0"/>
                <a:cs typeface="Helvetica Neue" charset="0"/>
              </a:rPr>
              <a:t>the</a:t>
            </a:r>
            <a:r>
              <a:rPr lang="sk-SK" sz="1250" dirty="0">
                <a:latin typeface="Helvetica Neue" charset="0"/>
                <a:ea typeface="Helvetica Neue" charset="0"/>
                <a:cs typeface="Helvetica Neue" charset="0"/>
              </a:rPr>
              <a:t> user, </a:t>
            </a:r>
            <a:r>
              <a:rPr lang="sk-SK" sz="1250" dirty="0" err="1">
                <a:latin typeface="Helvetica Neue" charset="0"/>
                <a:ea typeface="Helvetica Neue" charset="0"/>
                <a:cs typeface="Helvetica Neue" charset="0"/>
              </a:rPr>
              <a:t>rather</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than</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system-oriented</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terms</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Follow</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real-world</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conventions</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making</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information</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appear</a:t>
            </a:r>
            <a:r>
              <a:rPr lang="sk-SK" sz="1250" dirty="0">
                <a:latin typeface="Helvetica Neue" charset="0"/>
                <a:ea typeface="Helvetica Neue" charset="0"/>
                <a:cs typeface="Helvetica Neue" charset="0"/>
              </a:rPr>
              <a:t> in a </a:t>
            </a:r>
            <a:r>
              <a:rPr lang="sk-SK" sz="1250" dirty="0" err="1">
                <a:latin typeface="Helvetica Neue" charset="0"/>
                <a:ea typeface="Helvetica Neue" charset="0"/>
                <a:cs typeface="Helvetica Neue" charset="0"/>
              </a:rPr>
              <a:t>natural</a:t>
            </a:r>
            <a:r>
              <a:rPr lang="sk-SK" sz="1250" dirty="0">
                <a:latin typeface="Helvetica Neue" charset="0"/>
                <a:ea typeface="Helvetica Neue" charset="0"/>
                <a:cs typeface="Helvetica Neue" charset="0"/>
              </a:rPr>
              <a:t> and </a:t>
            </a:r>
            <a:r>
              <a:rPr lang="sk-SK" sz="1250" dirty="0" err="1">
                <a:latin typeface="Helvetica Neue" charset="0"/>
                <a:ea typeface="Helvetica Neue" charset="0"/>
                <a:cs typeface="Helvetica Neue" charset="0"/>
              </a:rPr>
              <a:t>logical</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order</a:t>
            </a:r>
            <a:r>
              <a:rPr lang="sk-SK" sz="1250" dirty="0">
                <a:latin typeface="Helvetica Neue" charset="0"/>
                <a:ea typeface="Helvetica Neue" charset="0"/>
                <a:cs typeface="Helvetica Neue" charset="0"/>
              </a:rPr>
              <a:t>.</a:t>
            </a:r>
          </a:p>
          <a:p>
            <a:pPr marL="0" indent="0">
              <a:buNone/>
            </a:pPr>
            <a:r>
              <a:rPr lang="sk-SK" sz="1250" dirty="0">
                <a:latin typeface="Helvetica Neue" charset="0"/>
                <a:ea typeface="Helvetica Neue" charset="0"/>
                <a:cs typeface="Helvetica Neue" charset="0"/>
              </a:rPr>
              <a:t> </a:t>
            </a:r>
          </a:p>
          <a:p>
            <a:pPr marL="0" indent="0">
              <a:buNone/>
            </a:pPr>
            <a:r>
              <a:rPr lang="sk-SK" sz="1250" b="1" dirty="0">
                <a:latin typeface="Helvetica Neue" charset="0"/>
                <a:ea typeface="Helvetica Neue" charset="0"/>
                <a:cs typeface="Helvetica Neue" charset="0"/>
              </a:rPr>
              <a:t>User </a:t>
            </a:r>
            <a:r>
              <a:rPr lang="sk-SK" sz="1250" b="1" dirty="0" err="1">
                <a:latin typeface="Helvetica Neue" charset="0"/>
                <a:ea typeface="Helvetica Neue" charset="0"/>
                <a:cs typeface="Helvetica Neue" charset="0"/>
              </a:rPr>
              <a:t>control</a:t>
            </a:r>
            <a:r>
              <a:rPr lang="sk-SK" sz="1250" b="1" dirty="0">
                <a:latin typeface="Helvetica Neue" charset="0"/>
                <a:ea typeface="Helvetica Neue" charset="0"/>
                <a:cs typeface="Helvetica Neue" charset="0"/>
              </a:rPr>
              <a:t> and </a:t>
            </a:r>
            <a:r>
              <a:rPr lang="sk-SK" sz="1250" b="1" dirty="0" err="1">
                <a:latin typeface="Helvetica Neue" charset="0"/>
                <a:ea typeface="Helvetica Neue" charset="0"/>
                <a:cs typeface="Helvetica Neue" charset="0"/>
              </a:rPr>
              <a:t>freedom</a:t>
            </a:r>
            <a:endParaRPr lang="sk-SK" sz="1250" b="1" dirty="0">
              <a:latin typeface="Helvetica Neue" charset="0"/>
              <a:ea typeface="Helvetica Neue" charset="0"/>
              <a:cs typeface="Helvetica Neue" charset="0"/>
            </a:endParaRPr>
          </a:p>
          <a:p>
            <a:pPr marL="0" indent="0">
              <a:buNone/>
            </a:pPr>
            <a:r>
              <a:rPr lang="sk-SK" sz="1250" dirty="0" err="1">
                <a:latin typeface="Helvetica Neue" charset="0"/>
                <a:ea typeface="Helvetica Neue" charset="0"/>
                <a:cs typeface="Helvetica Neue" charset="0"/>
              </a:rPr>
              <a:t>Users</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often</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choose</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system</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functions</a:t>
            </a:r>
            <a:r>
              <a:rPr lang="sk-SK" sz="1250" dirty="0">
                <a:latin typeface="Helvetica Neue" charset="0"/>
                <a:ea typeface="Helvetica Neue" charset="0"/>
                <a:cs typeface="Helvetica Neue" charset="0"/>
              </a:rPr>
              <a:t> by </a:t>
            </a:r>
            <a:r>
              <a:rPr lang="sk-SK" sz="1250" dirty="0" err="1">
                <a:latin typeface="Helvetica Neue" charset="0"/>
                <a:ea typeface="Helvetica Neue" charset="0"/>
                <a:cs typeface="Helvetica Neue" charset="0"/>
              </a:rPr>
              <a:t>mistake</a:t>
            </a:r>
            <a:r>
              <a:rPr lang="sk-SK" sz="1250" dirty="0">
                <a:latin typeface="Helvetica Neue" charset="0"/>
                <a:ea typeface="Helvetica Neue" charset="0"/>
                <a:cs typeface="Helvetica Neue" charset="0"/>
              </a:rPr>
              <a:t> and </a:t>
            </a:r>
            <a:r>
              <a:rPr lang="sk-SK" sz="1250" dirty="0" err="1">
                <a:latin typeface="Helvetica Neue" charset="0"/>
                <a:ea typeface="Helvetica Neue" charset="0"/>
                <a:cs typeface="Helvetica Neue" charset="0"/>
              </a:rPr>
              <a:t>will</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need</a:t>
            </a:r>
            <a:r>
              <a:rPr lang="sk-SK" sz="1250" dirty="0">
                <a:latin typeface="Helvetica Neue" charset="0"/>
                <a:ea typeface="Helvetica Neue" charset="0"/>
                <a:cs typeface="Helvetica Neue" charset="0"/>
              </a:rPr>
              <a:t> a </a:t>
            </a:r>
            <a:r>
              <a:rPr lang="sk-SK" sz="1250" dirty="0" err="1">
                <a:latin typeface="Helvetica Neue" charset="0"/>
                <a:ea typeface="Helvetica Neue" charset="0"/>
                <a:cs typeface="Helvetica Neue" charset="0"/>
              </a:rPr>
              <a:t>clearly</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marked</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emergency</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exit</a:t>
            </a:r>
            <a:r>
              <a:rPr lang="sk-SK" sz="1250" dirty="0">
                <a:latin typeface="Helvetica Neue" charset="0"/>
                <a:ea typeface="Helvetica Neue" charset="0"/>
                <a:cs typeface="Helvetica Neue" charset="0"/>
              </a:rPr>
              <a:t>" to </a:t>
            </a:r>
            <a:r>
              <a:rPr lang="sk-SK" sz="1250" dirty="0" err="1">
                <a:latin typeface="Helvetica Neue" charset="0"/>
                <a:ea typeface="Helvetica Neue" charset="0"/>
                <a:cs typeface="Helvetica Neue" charset="0"/>
              </a:rPr>
              <a:t>leave</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the</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unwanted</a:t>
            </a:r>
            <a:r>
              <a:rPr lang="sk-SK" sz="1250" dirty="0">
                <a:latin typeface="Helvetica Neue" charset="0"/>
                <a:ea typeface="Helvetica Neue" charset="0"/>
                <a:cs typeface="Helvetica Neue" charset="0"/>
              </a:rPr>
              <a:t> state </a:t>
            </a:r>
            <a:r>
              <a:rPr lang="sk-SK" sz="1250" dirty="0" err="1">
                <a:latin typeface="Helvetica Neue" charset="0"/>
                <a:ea typeface="Helvetica Neue" charset="0"/>
                <a:cs typeface="Helvetica Neue" charset="0"/>
              </a:rPr>
              <a:t>without</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having</a:t>
            </a:r>
            <a:r>
              <a:rPr lang="sk-SK" sz="1250" dirty="0">
                <a:latin typeface="Helvetica Neue" charset="0"/>
                <a:ea typeface="Helvetica Neue" charset="0"/>
                <a:cs typeface="Helvetica Neue" charset="0"/>
              </a:rPr>
              <a:t> to go </a:t>
            </a:r>
            <a:r>
              <a:rPr lang="sk-SK" sz="1250" dirty="0" err="1">
                <a:latin typeface="Helvetica Neue" charset="0"/>
                <a:ea typeface="Helvetica Neue" charset="0"/>
                <a:cs typeface="Helvetica Neue" charset="0"/>
              </a:rPr>
              <a:t>through</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an</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extended</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dialogue</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Support</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undo</a:t>
            </a:r>
            <a:r>
              <a:rPr lang="sk-SK" sz="1250" dirty="0">
                <a:latin typeface="Helvetica Neue" charset="0"/>
                <a:ea typeface="Helvetica Neue" charset="0"/>
                <a:cs typeface="Helvetica Neue" charset="0"/>
              </a:rPr>
              <a:t> and </a:t>
            </a:r>
            <a:r>
              <a:rPr lang="sk-SK" sz="1250" dirty="0" err="1">
                <a:latin typeface="Helvetica Neue" charset="0"/>
                <a:ea typeface="Helvetica Neue" charset="0"/>
                <a:cs typeface="Helvetica Neue" charset="0"/>
              </a:rPr>
              <a:t>redo</a:t>
            </a:r>
            <a:r>
              <a:rPr lang="sk-SK" sz="1250" dirty="0">
                <a:latin typeface="Helvetica Neue" charset="0"/>
                <a:ea typeface="Helvetica Neue" charset="0"/>
                <a:cs typeface="Helvetica Neue" charset="0"/>
              </a:rPr>
              <a:t>.</a:t>
            </a:r>
          </a:p>
          <a:p>
            <a:pPr marL="0" indent="0">
              <a:buNone/>
            </a:pPr>
            <a:r>
              <a:rPr lang="sk-SK" sz="1250" dirty="0">
                <a:latin typeface="Helvetica Neue" charset="0"/>
                <a:ea typeface="Helvetica Neue" charset="0"/>
                <a:cs typeface="Helvetica Neue" charset="0"/>
              </a:rPr>
              <a:t> </a:t>
            </a:r>
          </a:p>
          <a:p>
            <a:pPr marL="0" indent="0">
              <a:buNone/>
            </a:pPr>
            <a:r>
              <a:rPr lang="sk-SK" sz="1250" b="1" dirty="0" err="1">
                <a:latin typeface="Helvetica Neue" charset="0"/>
                <a:ea typeface="Helvetica Neue" charset="0"/>
                <a:cs typeface="Helvetica Neue" charset="0"/>
              </a:rPr>
              <a:t>Consistency</a:t>
            </a:r>
            <a:r>
              <a:rPr lang="sk-SK" sz="1250" b="1" dirty="0">
                <a:latin typeface="Helvetica Neue" charset="0"/>
                <a:ea typeface="Helvetica Neue" charset="0"/>
                <a:cs typeface="Helvetica Neue" charset="0"/>
              </a:rPr>
              <a:t> and </a:t>
            </a:r>
            <a:r>
              <a:rPr lang="sk-SK" sz="1250" b="1" dirty="0" err="1">
                <a:latin typeface="Helvetica Neue" charset="0"/>
                <a:ea typeface="Helvetica Neue" charset="0"/>
                <a:cs typeface="Helvetica Neue" charset="0"/>
              </a:rPr>
              <a:t>standards</a:t>
            </a:r>
            <a:endParaRPr lang="sk-SK" sz="1250" b="1" dirty="0">
              <a:latin typeface="Helvetica Neue" charset="0"/>
              <a:ea typeface="Helvetica Neue" charset="0"/>
              <a:cs typeface="Helvetica Neue" charset="0"/>
            </a:endParaRPr>
          </a:p>
          <a:p>
            <a:pPr marL="0" indent="0">
              <a:buNone/>
            </a:pPr>
            <a:r>
              <a:rPr lang="sk-SK" sz="1250" dirty="0" err="1">
                <a:latin typeface="Helvetica Neue" charset="0"/>
                <a:ea typeface="Helvetica Neue" charset="0"/>
                <a:cs typeface="Helvetica Neue" charset="0"/>
              </a:rPr>
              <a:t>Users</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should</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not</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have</a:t>
            </a:r>
            <a:r>
              <a:rPr lang="sk-SK" sz="1250" dirty="0">
                <a:latin typeface="Helvetica Neue" charset="0"/>
                <a:ea typeface="Helvetica Neue" charset="0"/>
                <a:cs typeface="Helvetica Neue" charset="0"/>
              </a:rPr>
              <a:t> to </a:t>
            </a:r>
            <a:r>
              <a:rPr lang="sk-SK" sz="1250" dirty="0" err="1">
                <a:latin typeface="Helvetica Neue" charset="0"/>
                <a:ea typeface="Helvetica Neue" charset="0"/>
                <a:cs typeface="Helvetica Neue" charset="0"/>
              </a:rPr>
              <a:t>wonder</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whether</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different</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words</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situations</a:t>
            </a:r>
            <a:r>
              <a:rPr lang="sk-SK" sz="1250" dirty="0">
                <a:latin typeface="Helvetica Neue" charset="0"/>
                <a:ea typeface="Helvetica Neue" charset="0"/>
                <a:cs typeface="Helvetica Neue" charset="0"/>
              </a:rPr>
              <a:t>, or </a:t>
            </a:r>
            <a:r>
              <a:rPr lang="sk-SK" sz="1250" dirty="0" err="1">
                <a:latin typeface="Helvetica Neue" charset="0"/>
                <a:ea typeface="Helvetica Neue" charset="0"/>
                <a:cs typeface="Helvetica Neue" charset="0"/>
              </a:rPr>
              <a:t>actions</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mean</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the</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same</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thing</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Follow</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platform</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conventions</a:t>
            </a:r>
            <a:r>
              <a:rPr lang="sk-SK" sz="1250" dirty="0">
                <a:latin typeface="Helvetica Neue" charset="0"/>
                <a:ea typeface="Helvetica Neue" charset="0"/>
                <a:cs typeface="Helvetica Neue" charset="0"/>
              </a:rPr>
              <a:t>.</a:t>
            </a:r>
          </a:p>
          <a:p>
            <a:pPr marL="0" indent="0">
              <a:buNone/>
            </a:pPr>
            <a:r>
              <a:rPr lang="sk-SK" sz="1250" dirty="0">
                <a:latin typeface="Helvetica Neue" charset="0"/>
                <a:ea typeface="Helvetica Neue" charset="0"/>
                <a:cs typeface="Helvetica Neue" charset="0"/>
              </a:rPr>
              <a:t> </a:t>
            </a:r>
          </a:p>
          <a:p>
            <a:pPr marL="0" indent="0">
              <a:buNone/>
            </a:pPr>
            <a:r>
              <a:rPr lang="sk-SK" sz="1250" b="1" dirty="0" err="1">
                <a:latin typeface="Helvetica Neue" charset="0"/>
                <a:ea typeface="Helvetica Neue" charset="0"/>
                <a:cs typeface="Helvetica Neue" charset="0"/>
              </a:rPr>
              <a:t>Error</a:t>
            </a:r>
            <a:r>
              <a:rPr lang="sk-SK" sz="1250" b="1" dirty="0">
                <a:latin typeface="Helvetica Neue" charset="0"/>
                <a:ea typeface="Helvetica Neue" charset="0"/>
                <a:cs typeface="Helvetica Neue" charset="0"/>
              </a:rPr>
              <a:t> </a:t>
            </a:r>
            <a:r>
              <a:rPr lang="sk-SK" sz="1250" b="1" dirty="0" err="1">
                <a:latin typeface="Helvetica Neue" charset="0"/>
                <a:ea typeface="Helvetica Neue" charset="0"/>
                <a:cs typeface="Helvetica Neue" charset="0"/>
              </a:rPr>
              <a:t>prevention</a:t>
            </a:r>
            <a:endParaRPr lang="sk-SK" sz="1250" b="1" dirty="0">
              <a:latin typeface="Helvetica Neue" charset="0"/>
              <a:ea typeface="Helvetica Neue" charset="0"/>
              <a:cs typeface="Helvetica Neue" charset="0"/>
            </a:endParaRPr>
          </a:p>
          <a:p>
            <a:pPr marL="0" indent="0">
              <a:buNone/>
            </a:pPr>
            <a:r>
              <a:rPr lang="sk-SK" sz="1250" dirty="0" err="1">
                <a:latin typeface="Helvetica Neue" charset="0"/>
                <a:ea typeface="Helvetica Neue" charset="0"/>
                <a:cs typeface="Helvetica Neue" charset="0"/>
              </a:rPr>
              <a:t>Even</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better</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than</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good</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error</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messages</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is</a:t>
            </a:r>
            <a:r>
              <a:rPr lang="sk-SK" sz="1250" dirty="0">
                <a:latin typeface="Helvetica Neue" charset="0"/>
                <a:ea typeface="Helvetica Neue" charset="0"/>
                <a:cs typeface="Helvetica Neue" charset="0"/>
              </a:rPr>
              <a:t> a </a:t>
            </a:r>
            <a:r>
              <a:rPr lang="sk-SK" sz="1250" dirty="0" err="1">
                <a:latin typeface="Helvetica Neue" charset="0"/>
                <a:ea typeface="Helvetica Neue" charset="0"/>
                <a:cs typeface="Helvetica Neue" charset="0"/>
              </a:rPr>
              <a:t>careful</a:t>
            </a:r>
            <a:r>
              <a:rPr lang="sk-SK" sz="1250" dirty="0">
                <a:latin typeface="Helvetica Neue" charset="0"/>
                <a:ea typeface="Helvetica Neue" charset="0"/>
                <a:cs typeface="Helvetica Neue" charset="0"/>
              </a:rPr>
              <a:t> design </a:t>
            </a:r>
            <a:r>
              <a:rPr lang="sk-SK" sz="1250" dirty="0" err="1">
                <a:latin typeface="Helvetica Neue" charset="0"/>
                <a:ea typeface="Helvetica Neue" charset="0"/>
                <a:cs typeface="Helvetica Neue" charset="0"/>
              </a:rPr>
              <a:t>which</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prevents</a:t>
            </a:r>
            <a:r>
              <a:rPr lang="sk-SK" sz="1250" dirty="0">
                <a:latin typeface="Helvetica Neue" charset="0"/>
                <a:ea typeface="Helvetica Neue" charset="0"/>
                <a:cs typeface="Helvetica Neue" charset="0"/>
              </a:rPr>
              <a:t> a </a:t>
            </a:r>
            <a:r>
              <a:rPr lang="sk-SK" sz="1250" dirty="0" err="1">
                <a:latin typeface="Helvetica Neue" charset="0"/>
                <a:ea typeface="Helvetica Neue" charset="0"/>
                <a:cs typeface="Helvetica Neue" charset="0"/>
              </a:rPr>
              <a:t>problem</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from</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occurring</a:t>
            </a:r>
            <a:r>
              <a:rPr lang="sk-SK" sz="1250" dirty="0">
                <a:latin typeface="Helvetica Neue" charset="0"/>
                <a:ea typeface="Helvetica Neue" charset="0"/>
                <a:cs typeface="Helvetica Neue" charset="0"/>
              </a:rPr>
              <a:t> in </a:t>
            </a:r>
            <a:r>
              <a:rPr lang="sk-SK" sz="1250" dirty="0" err="1">
                <a:latin typeface="Helvetica Neue" charset="0"/>
                <a:ea typeface="Helvetica Neue" charset="0"/>
                <a:cs typeface="Helvetica Neue" charset="0"/>
              </a:rPr>
              <a:t>the</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first</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place</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Either</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eliminate</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error-prone</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conditions</a:t>
            </a:r>
            <a:r>
              <a:rPr lang="sk-SK" sz="1250" dirty="0">
                <a:latin typeface="Helvetica Neue" charset="0"/>
                <a:ea typeface="Helvetica Neue" charset="0"/>
                <a:cs typeface="Helvetica Neue" charset="0"/>
              </a:rPr>
              <a:t> or </a:t>
            </a:r>
            <a:r>
              <a:rPr lang="sk-SK" sz="1250" dirty="0" err="1">
                <a:latin typeface="Helvetica Neue" charset="0"/>
                <a:ea typeface="Helvetica Neue" charset="0"/>
                <a:cs typeface="Helvetica Neue" charset="0"/>
              </a:rPr>
              <a:t>check</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for</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them</a:t>
            </a:r>
            <a:r>
              <a:rPr lang="sk-SK" sz="1250" dirty="0">
                <a:latin typeface="Helvetica Neue" charset="0"/>
                <a:ea typeface="Helvetica Neue" charset="0"/>
                <a:cs typeface="Helvetica Neue" charset="0"/>
              </a:rPr>
              <a:t> and </a:t>
            </a:r>
            <a:r>
              <a:rPr lang="sk-SK" sz="1250" dirty="0" err="1">
                <a:latin typeface="Helvetica Neue" charset="0"/>
                <a:ea typeface="Helvetica Neue" charset="0"/>
                <a:cs typeface="Helvetica Neue" charset="0"/>
              </a:rPr>
              <a:t>present</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users</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with</a:t>
            </a:r>
            <a:r>
              <a:rPr lang="sk-SK" sz="1250" dirty="0">
                <a:latin typeface="Helvetica Neue" charset="0"/>
                <a:ea typeface="Helvetica Neue" charset="0"/>
                <a:cs typeface="Helvetica Neue" charset="0"/>
              </a:rPr>
              <a:t> a </a:t>
            </a:r>
            <a:r>
              <a:rPr lang="sk-SK" sz="1250" dirty="0" err="1">
                <a:latin typeface="Helvetica Neue" charset="0"/>
                <a:ea typeface="Helvetica Neue" charset="0"/>
                <a:cs typeface="Helvetica Neue" charset="0"/>
              </a:rPr>
              <a:t>confirmation</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option</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before</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they</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commit</a:t>
            </a:r>
            <a:r>
              <a:rPr lang="sk-SK" sz="1250" dirty="0">
                <a:latin typeface="Helvetica Neue" charset="0"/>
                <a:ea typeface="Helvetica Neue" charset="0"/>
                <a:cs typeface="Helvetica Neue" charset="0"/>
              </a:rPr>
              <a:t> to </a:t>
            </a:r>
            <a:r>
              <a:rPr lang="sk-SK" sz="1250" dirty="0" err="1">
                <a:latin typeface="Helvetica Neue" charset="0"/>
                <a:ea typeface="Helvetica Neue" charset="0"/>
                <a:cs typeface="Helvetica Neue" charset="0"/>
              </a:rPr>
              <a:t>the</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action</a:t>
            </a:r>
            <a:r>
              <a:rPr lang="sk-SK" sz="1250" dirty="0">
                <a:latin typeface="Helvetica Neue" charset="0"/>
                <a:ea typeface="Helvetica Neue" charset="0"/>
                <a:cs typeface="Helvetica Neue" charset="0"/>
              </a:rPr>
              <a:t>.</a:t>
            </a:r>
            <a:endParaRPr lang="en-US" sz="1250" dirty="0">
              <a:latin typeface="Helvetica Neue" charset="0"/>
              <a:ea typeface="Helvetica Neue" charset="0"/>
              <a:cs typeface="Helvetica Neue" charset="0"/>
            </a:endParaRPr>
          </a:p>
        </p:txBody>
      </p:sp>
      <p:sp>
        <p:nvSpPr>
          <p:cNvPr id="6" name="Content Placeholder 5"/>
          <p:cNvSpPr>
            <a:spLocks noGrp="1"/>
          </p:cNvSpPr>
          <p:nvPr>
            <p:ph sz="half" idx="2"/>
          </p:nvPr>
        </p:nvSpPr>
        <p:spPr>
          <a:xfrm>
            <a:off x="4572001" y="195146"/>
            <a:ext cx="4282068" cy="6517888"/>
          </a:xfrm>
        </p:spPr>
        <p:txBody>
          <a:bodyPr>
            <a:noAutofit/>
          </a:bodyPr>
          <a:lstStyle/>
          <a:p>
            <a:pPr marL="0" indent="0">
              <a:buNone/>
            </a:pPr>
            <a:r>
              <a:rPr lang="en-US" sz="1250" b="1" dirty="0">
                <a:latin typeface="Helvetica Neue" charset="0"/>
                <a:ea typeface="Helvetica Neue" charset="0"/>
                <a:cs typeface="Helvetica Neue" charset="0"/>
              </a:rPr>
              <a:t>Recognition rather than recall</a:t>
            </a:r>
          </a:p>
          <a:p>
            <a:pPr marL="0" indent="0">
              <a:buNone/>
            </a:pPr>
            <a:r>
              <a:rPr lang="en-US" sz="1250" dirty="0">
                <a:latin typeface="Helvetica Neue" charset="0"/>
                <a:ea typeface="Helvetica Neue" charset="0"/>
                <a:cs typeface="Helvetica Neue" charset="0"/>
              </a:rPr>
              <a:t>Minimize the user's memory load by making objects, actions, and options visible. The user should not have to remember information from one part of the dialogue to another. Instructions for use of the system should be visible or easily retrievable whenever appropriate.</a:t>
            </a:r>
          </a:p>
          <a:p>
            <a:pPr marL="0" indent="0">
              <a:buNone/>
            </a:pPr>
            <a:r>
              <a:rPr lang="sk-SK" sz="1250" dirty="0">
                <a:latin typeface="Helvetica Neue" charset="0"/>
                <a:ea typeface="Helvetica Neue" charset="0"/>
                <a:cs typeface="Helvetica Neue" charset="0"/>
              </a:rPr>
              <a:t> </a:t>
            </a:r>
          </a:p>
          <a:p>
            <a:pPr marL="0" indent="0">
              <a:buNone/>
            </a:pPr>
            <a:r>
              <a:rPr lang="sk-SK" sz="1250" b="1" dirty="0">
                <a:latin typeface="Helvetica Neue" charset="0"/>
                <a:ea typeface="Helvetica Neue" charset="0"/>
                <a:cs typeface="Helvetica Neue" charset="0"/>
              </a:rPr>
              <a:t>Flexibility and </a:t>
            </a:r>
            <a:r>
              <a:rPr lang="sk-SK" sz="1250" b="1" dirty="0" err="1">
                <a:latin typeface="Helvetica Neue" charset="0"/>
                <a:ea typeface="Helvetica Neue" charset="0"/>
                <a:cs typeface="Helvetica Neue" charset="0"/>
              </a:rPr>
              <a:t>efficiency</a:t>
            </a:r>
            <a:r>
              <a:rPr lang="sk-SK" sz="1250" b="1" dirty="0">
                <a:latin typeface="Helvetica Neue" charset="0"/>
                <a:ea typeface="Helvetica Neue" charset="0"/>
                <a:cs typeface="Helvetica Neue" charset="0"/>
              </a:rPr>
              <a:t> of </a:t>
            </a:r>
            <a:r>
              <a:rPr lang="sk-SK" sz="1250" b="1" dirty="0" err="1">
                <a:latin typeface="Helvetica Neue" charset="0"/>
                <a:ea typeface="Helvetica Neue" charset="0"/>
                <a:cs typeface="Helvetica Neue" charset="0"/>
              </a:rPr>
              <a:t>use</a:t>
            </a:r>
            <a:endParaRPr lang="sk-SK" sz="1250" b="1" dirty="0">
              <a:latin typeface="Helvetica Neue" charset="0"/>
              <a:ea typeface="Helvetica Neue" charset="0"/>
              <a:cs typeface="Helvetica Neue" charset="0"/>
            </a:endParaRPr>
          </a:p>
          <a:p>
            <a:pPr marL="0" indent="0">
              <a:buNone/>
            </a:pPr>
            <a:r>
              <a:rPr lang="sk-SK" sz="1250" dirty="0" err="1">
                <a:latin typeface="Helvetica Neue" charset="0"/>
                <a:ea typeface="Helvetica Neue" charset="0"/>
                <a:cs typeface="Helvetica Neue" charset="0"/>
              </a:rPr>
              <a:t>Accelerators</a:t>
            </a:r>
            <a:r>
              <a:rPr lang="sk-SK" sz="1250" dirty="0">
                <a:latin typeface="Helvetica Neue" charset="0"/>
                <a:ea typeface="Helvetica Neue" charset="0"/>
                <a:cs typeface="Helvetica Neue" charset="0"/>
              </a:rPr>
              <a:t> -- </a:t>
            </a:r>
            <a:r>
              <a:rPr lang="sk-SK" sz="1250" dirty="0" err="1">
                <a:latin typeface="Helvetica Neue" charset="0"/>
                <a:ea typeface="Helvetica Neue" charset="0"/>
                <a:cs typeface="Helvetica Neue" charset="0"/>
              </a:rPr>
              <a:t>unseen</a:t>
            </a:r>
            <a:r>
              <a:rPr lang="sk-SK" sz="1250" dirty="0">
                <a:latin typeface="Helvetica Neue" charset="0"/>
                <a:ea typeface="Helvetica Neue" charset="0"/>
                <a:cs typeface="Helvetica Neue" charset="0"/>
              </a:rPr>
              <a:t> by </a:t>
            </a:r>
            <a:r>
              <a:rPr lang="sk-SK" sz="1250" dirty="0" err="1">
                <a:latin typeface="Helvetica Neue" charset="0"/>
                <a:ea typeface="Helvetica Neue" charset="0"/>
                <a:cs typeface="Helvetica Neue" charset="0"/>
              </a:rPr>
              <a:t>the</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novice</a:t>
            </a:r>
            <a:r>
              <a:rPr lang="sk-SK" sz="1250" dirty="0">
                <a:latin typeface="Helvetica Neue" charset="0"/>
                <a:ea typeface="Helvetica Neue" charset="0"/>
                <a:cs typeface="Helvetica Neue" charset="0"/>
              </a:rPr>
              <a:t> user -- </a:t>
            </a:r>
            <a:r>
              <a:rPr lang="sk-SK" sz="1250" dirty="0" err="1">
                <a:latin typeface="Helvetica Neue" charset="0"/>
                <a:ea typeface="Helvetica Neue" charset="0"/>
                <a:cs typeface="Helvetica Neue" charset="0"/>
              </a:rPr>
              <a:t>may</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often</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speed</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up</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the</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interaction</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for</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the</a:t>
            </a:r>
            <a:r>
              <a:rPr lang="sk-SK" sz="1250" dirty="0">
                <a:latin typeface="Helvetica Neue" charset="0"/>
                <a:ea typeface="Helvetica Neue" charset="0"/>
                <a:cs typeface="Helvetica Neue" charset="0"/>
              </a:rPr>
              <a:t> expert user </a:t>
            </a:r>
            <a:r>
              <a:rPr lang="sk-SK" sz="1250" dirty="0" err="1">
                <a:latin typeface="Helvetica Neue" charset="0"/>
                <a:ea typeface="Helvetica Neue" charset="0"/>
                <a:cs typeface="Helvetica Neue" charset="0"/>
              </a:rPr>
              <a:t>such</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that</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the</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system</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can</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cater</a:t>
            </a:r>
            <a:r>
              <a:rPr lang="sk-SK" sz="1250" dirty="0">
                <a:latin typeface="Helvetica Neue" charset="0"/>
                <a:ea typeface="Helvetica Neue" charset="0"/>
                <a:cs typeface="Helvetica Neue" charset="0"/>
              </a:rPr>
              <a:t> to </a:t>
            </a:r>
            <a:r>
              <a:rPr lang="sk-SK" sz="1250" dirty="0" err="1">
                <a:latin typeface="Helvetica Neue" charset="0"/>
                <a:ea typeface="Helvetica Neue" charset="0"/>
                <a:cs typeface="Helvetica Neue" charset="0"/>
              </a:rPr>
              <a:t>both</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inexperienced</a:t>
            </a:r>
            <a:r>
              <a:rPr lang="sk-SK" sz="1250" dirty="0">
                <a:latin typeface="Helvetica Neue" charset="0"/>
                <a:ea typeface="Helvetica Neue" charset="0"/>
                <a:cs typeface="Helvetica Neue" charset="0"/>
              </a:rPr>
              <a:t> and </a:t>
            </a:r>
            <a:r>
              <a:rPr lang="sk-SK" sz="1250" dirty="0" err="1">
                <a:latin typeface="Helvetica Neue" charset="0"/>
                <a:ea typeface="Helvetica Neue" charset="0"/>
                <a:cs typeface="Helvetica Neue" charset="0"/>
              </a:rPr>
              <a:t>experienced</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users</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Allow</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users</a:t>
            </a:r>
            <a:r>
              <a:rPr lang="sk-SK" sz="1250" dirty="0">
                <a:latin typeface="Helvetica Neue" charset="0"/>
                <a:ea typeface="Helvetica Neue" charset="0"/>
                <a:cs typeface="Helvetica Neue" charset="0"/>
              </a:rPr>
              <a:t> to </a:t>
            </a:r>
            <a:r>
              <a:rPr lang="sk-SK" sz="1250" dirty="0" err="1">
                <a:latin typeface="Helvetica Neue" charset="0"/>
                <a:ea typeface="Helvetica Neue" charset="0"/>
                <a:cs typeface="Helvetica Neue" charset="0"/>
              </a:rPr>
              <a:t>tailor</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frequent</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actions</a:t>
            </a:r>
            <a:r>
              <a:rPr lang="sk-SK" sz="1250" dirty="0">
                <a:latin typeface="Helvetica Neue" charset="0"/>
                <a:ea typeface="Helvetica Neue" charset="0"/>
                <a:cs typeface="Helvetica Neue" charset="0"/>
              </a:rPr>
              <a:t>.</a:t>
            </a:r>
          </a:p>
          <a:p>
            <a:pPr marL="0" indent="0">
              <a:buNone/>
            </a:pPr>
            <a:r>
              <a:rPr lang="sk-SK" sz="1250" dirty="0">
                <a:latin typeface="Helvetica Neue" charset="0"/>
                <a:ea typeface="Helvetica Neue" charset="0"/>
                <a:cs typeface="Helvetica Neue" charset="0"/>
              </a:rPr>
              <a:t> </a:t>
            </a:r>
          </a:p>
          <a:p>
            <a:pPr marL="0" indent="0">
              <a:buNone/>
            </a:pPr>
            <a:r>
              <a:rPr lang="sk-SK" sz="1250" b="1" dirty="0" err="1">
                <a:latin typeface="Helvetica Neue" charset="0"/>
                <a:ea typeface="Helvetica Neue" charset="0"/>
                <a:cs typeface="Helvetica Neue" charset="0"/>
              </a:rPr>
              <a:t>Aesthetic</a:t>
            </a:r>
            <a:r>
              <a:rPr lang="sk-SK" sz="1250" b="1" dirty="0">
                <a:latin typeface="Helvetica Neue" charset="0"/>
                <a:ea typeface="Helvetica Neue" charset="0"/>
                <a:cs typeface="Helvetica Neue" charset="0"/>
              </a:rPr>
              <a:t> and </a:t>
            </a:r>
            <a:r>
              <a:rPr lang="sk-SK" sz="1250" b="1" dirty="0" err="1">
                <a:latin typeface="Helvetica Neue" charset="0"/>
                <a:ea typeface="Helvetica Neue" charset="0"/>
                <a:cs typeface="Helvetica Neue" charset="0"/>
              </a:rPr>
              <a:t>minimalist</a:t>
            </a:r>
            <a:r>
              <a:rPr lang="sk-SK" sz="1250" b="1" dirty="0">
                <a:latin typeface="Helvetica Neue" charset="0"/>
                <a:ea typeface="Helvetica Neue" charset="0"/>
                <a:cs typeface="Helvetica Neue" charset="0"/>
              </a:rPr>
              <a:t> design</a:t>
            </a:r>
          </a:p>
          <a:p>
            <a:pPr marL="0" indent="0">
              <a:buNone/>
            </a:pPr>
            <a:r>
              <a:rPr lang="sk-SK" sz="1250" dirty="0" err="1">
                <a:latin typeface="Helvetica Neue" charset="0"/>
                <a:ea typeface="Helvetica Neue" charset="0"/>
                <a:cs typeface="Helvetica Neue" charset="0"/>
              </a:rPr>
              <a:t>Dialogues</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should</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not</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contain</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information</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which</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is</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irrelevant</a:t>
            </a:r>
            <a:r>
              <a:rPr lang="sk-SK" sz="1250" dirty="0">
                <a:latin typeface="Helvetica Neue" charset="0"/>
                <a:ea typeface="Helvetica Neue" charset="0"/>
                <a:cs typeface="Helvetica Neue" charset="0"/>
              </a:rPr>
              <a:t> or </a:t>
            </a:r>
            <a:r>
              <a:rPr lang="sk-SK" sz="1250" dirty="0" err="1">
                <a:latin typeface="Helvetica Neue" charset="0"/>
                <a:ea typeface="Helvetica Neue" charset="0"/>
                <a:cs typeface="Helvetica Neue" charset="0"/>
              </a:rPr>
              <a:t>rarely</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needed</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Every</a:t>
            </a:r>
            <a:r>
              <a:rPr lang="sk-SK" sz="1250" dirty="0">
                <a:latin typeface="Helvetica Neue" charset="0"/>
                <a:ea typeface="Helvetica Neue" charset="0"/>
                <a:cs typeface="Helvetica Neue" charset="0"/>
              </a:rPr>
              <a:t> extra </a:t>
            </a:r>
            <a:r>
              <a:rPr lang="sk-SK" sz="1250" dirty="0" err="1">
                <a:latin typeface="Helvetica Neue" charset="0"/>
                <a:ea typeface="Helvetica Neue" charset="0"/>
                <a:cs typeface="Helvetica Neue" charset="0"/>
              </a:rPr>
              <a:t>unit</a:t>
            </a:r>
            <a:r>
              <a:rPr lang="sk-SK" sz="1250" dirty="0">
                <a:latin typeface="Helvetica Neue" charset="0"/>
                <a:ea typeface="Helvetica Neue" charset="0"/>
                <a:cs typeface="Helvetica Neue" charset="0"/>
              </a:rPr>
              <a:t> of </a:t>
            </a:r>
            <a:r>
              <a:rPr lang="sk-SK" sz="1250" dirty="0" err="1">
                <a:latin typeface="Helvetica Neue" charset="0"/>
                <a:ea typeface="Helvetica Neue" charset="0"/>
                <a:cs typeface="Helvetica Neue" charset="0"/>
              </a:rPr>
              <a:t>information</a:t>
            </a:r>
            <a:r>
              <a:rPr lang="sk-SK" sz="1250" dirty="0">
                <a:latin typeface="Helvetica Neue" charset="0"/>
                <a:ea typeface="Helvetica Neue" charset="0"/>
                <a:cs typeface="Helvetica Neue" charset="0"/>
              </a:rPr>
              <a:t> in a </a:t>
            </a:r>
            <a:r>
              <a:rPr lang="sk-SK" sz="1250" dirty="0" err="1">
                <a:latin typeface="Helvetica Neue" charset="0"/>
                <a:ea typeface="Helvetica Neue" charset="0"/>
                <a:cs typeface="Helvetica Neue" charset="0"/>
              </a:rPr>
              <a:t>dialogue</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competes</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with</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the</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relevant</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units</a:t>
            </a:r>
            <a:r>
              <a:rPr lang="sk-SK" sz="1250" dirty="0">
                <a:latin typeface="Helvetica Neue" charset="0"/>
                <a:ea typeface="Helvetica Neue" charset="0"/>
                <a:cs typeface="Helvetica Neue" charset="0"/>
              </a:rPr>
              <a:t> of </a:t>
            </a:r>
            <a:r>
              <a:rPr lang="sk-SK" sz="1250" dirty="0" err="1">
                <a:latin typeface="Helvetica Neue" charset="0"/>
                <a:ea typeface="Helvetica Neue" charset="0"/>
                <a:cs typeface="Helvetica Neue" charset="0"/>
              </a:rPr>
              <a:t>information</a:t>
            </a:r>
            <a:r>
              <a:rPr lang="sk-SK" sz="1250" dirty="0">
                <a:latin typeface="Helvetica Neue" charset="0"/>
                <a:ea typeface="Helvetica Neue" charset="0"/>
                <a:cs typeface="Helvetica Neue" charset="0"/>
              </a:rPr>
              <a:t> and </a:t>
            </a:r>
            <a:r>
              <a:rPr lang="sk-SK" sz="1250" dirty="0" err="1">
                <a:latin typeface="Helvetica Neue" charset="0"/>
                <a:ea typeface="Helvetica Neue" charset="0"/>
                <a:cs typeface="Helvetica Neue" charset="0"/>
              </a:rPr>
              <a:t>diminishes</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their</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relative</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visibility</a:t>
            </a:r>
            <a:r>
              <a:rPr lang="sk-SK" sz="1250" dirty="0">
                <a:latin typeface="Helvetica Neue" charset="0"/>
                <a:ea typeface="Helvetica Neue" charset="0"/>
                <a:cs typeface="Helvetica Neue" charset="0"/>
              </a:rPr>
              <a:t>.</a:t>
            </a:r>
          </a:p>
          <a:p>
            <a:pPr marL="0" indent="0">
              <a:buNone/>
            </a:pPr>
            <a:r>
              <a:rPr lang="sk-SK" sz="1250" dirty="0">
                <a:latin typeface="Helvetica Neue" charset="0"/>
                <a:ea typeface="Helvetica Neue" charset="0"/>
                <a:cs typeface="Helvetica Neue" charset="0"/>
              </a:rPr>
              <a:t> </a:t>
            </a:r>
          </a:p>
          <a:p>
            <a:pPr marL="0" indent="0">
              <a:buNone/>
            </a:pPr>
            <a:r>
              <a:rPr lang="sk-SK" sz="1250" b="1" dirty="0" err="1">
                <a:latin typeface="Helvetica Neue" charset="0"/>
                <a:ea typeface="Helvetica Neue" charset="0"/>
                <a:cs typeface="Helvetica Neue" charset="0"/>
              </a:rPr>
              <a:t>Help</a:t>
            </a:r>
            <a:r>
              <a:rPr lang="sk-SK" sz="1250" b="1" dirty="0">
                <a:latin typeface="Helvetica Neue" charset="0"/>
                <a:ea typeface="Helvetica Neue" charset="0"/>
                <a:cs typeface="Helvetica Neue" charset="0"/>
              </a:rPr>
              <a:t> </a:t>
            </a:r>
            <a:r>
              <a:rPr lang="sk-SK" sz="1250" b="1" dirty="0" err="1">
                <a:latin typeface="Helvetica Neue" charset="0"/>
                <a:ea typeface="Helvetica Neue" charset="0"/>
                <a:cs typeface="Helvetica Neue" charset="0"/>
              </a:rPr>
              <a:t>users</a:t>
            </a:r>
            <a:r>
              <a:rPr lang="sk-SK" sz="1250" b="1" dirty="0">
                <a:latin typeface="Helvetica Neue" charset="0"/>
                <a:ea typeface="Helvetica Neue" charset="0"/>
                <a:cs typeface="Helvetica Neue" charset="0"/>
              </a:rPr>
              <a:t> </a:t>
            </a:r>
            <a:r>
              <a:rPr lang="sk-SK" sz="1250" b="1" dirty="0" err="1">
                <a:latin typeface="Helvetica Neue" charset="0"/>
                <a:ea typeface="Helvetica Neue" charset="0"/>
                <a:cs typeface="Helvetica Neue" charset="0"/>
              </a:rPr>
              <a:t>recognize</a:t>
            </a:r>
            <a:r>
              <a:rPr lang="sk-SK" sz="1250" b="1" dirty="0">
                <a:latin typeface="Helvetica Neue" charset="0"/>
                <a:ea typeface="Helvetica Neue" charset="0"/>
                <a:cs typeface="Helvetica Neue" charset="0"/>
              </a:rPr>
              <a:t>, </a:t>
            </a:r>
            <a:r>
              <a:rPr lang="sk-SK" sz="1250" b="1" dirty="0" err="1">
                <a:latin typeface="Helvetica Neue" charset="0"/>
                <a:ea typeface="Helvetica Neue" charset="0"/>
                <a:cs typeface="Helvetica Neue" charset="0"/>
              </a:rPr>
              <a:t>diagnose</a:t>
            </a:r>
            <a:r>
              <a:rPr lang="sk-SK" sz="1250" b="1" dirty="0">
                <a:latin typeface="Helvetica Neue" charset="0"/>
                <a:ea typeface="Helvetica Neue" charset="0"/>
                <a:cs typeface="Helvetica Neue" charset="0"/>
              </a:rPr>
              <a:t>, and </a:t>
            </a:r>
            <a:r>
              <a:rPr lang="sk-SK" sz="1250" b="1" dirty="0" err="1">
                <a:latin typeface="Helvetica Neue" charset="0"/>
                <a:ea typeface="Helvetica Neue" charset="0"/>
                <a:cs typeface="Helvetica Neue" charset="0"/>
              </a:rPr>
              <a:t>recover</a:t>
            </a:r>
            <a:r>
              <a:rPr lang="sk-SK" sz="1250" b="1" dirty="0">
                <a:latin typeface="Helvetica Neue" charset="0"/>
                <a:ea typeface="Helvetica Neue" charset="0"/>
                <a:cs typeface="Helvetica Neue" charset="0"/>
              </a:rPr>
              <a:t> </a:t>
            </a:r>
            <a:r>
              <a:rPr lang="sk-SK" sz="1250" b="1" dirty="0" err="1">
                <a:latin typeface="Helvetica Neue" charset="0"/>
                <a:ea typeface="Helvetica Neue" charset="0"/>
                <a:cs typeface="Helvetica Neue" charset="0"/>
              </a:rPr>
              <a:t>from</a:t>
            </a:r>
            <a:r>
              <a:rPr lang="sk-SK" sz="1250" b="1" dirty="0">
                <a:latin typeface="Helvetica Neue" charset="0"/>
                <a:ea typeface="Helvetica Neue" charset="0"/>
                <a:cs typeface="Helvetica Neue" charset="0"/>
              </a:rPr>
              <a:t> </a:t>
            </a:r>
            <a:r>
              <a:rPr lang="sk-SK" sz="1250" b="1" dirty="0" err="1">
                <a:latin typeface="Helvetica Neue" charset="0"/>
                <a:ea typeface="Helvetica Neue" charset="0"/>
                <a:cs typeface="Helvetica Neue" charset="0"/>
              </a:rPr>
              <a:t>errors</a:t>
            </a:r>
            <a:endParaRPr lang="sk-SK" sz="1250" b="1" dirty="0">
              <a:latin typeface="Helvetica Neue" charset="0"/>
              <a:ea typeface="Helvetica Neue" charset="0"/>
              <a:cs typeface="Helvetica Neue" charset="0"/>
            </a:endParaRPr>
          </a:p>
          <a:p>
            <a:pPr marL="0" indent="0">
              <a:buNone/>
            </a:pPr>
            <a:r>
              <a:rPr lang="sk-SK" sz="1250" dirty="0" err="1">
                <a:latin typeface="Helvetica Neue" charset="0"/>
                <a:ea typeface="Helvetica Neue" charset="0"/>
                <a:cs typeface="Helvetica Neue" charset="0"/>
              </a:rPr>
              <a:t>Error</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messages</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should</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be</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expressed</a:t>
            </a:r>
            <a:r>
              <a:rPr lang="sk-SK" sz="1250" dirty="0">
                <a:latin typeface="Helvetica Neue" charset="0"/>
                <a:ea typeface="Helvetica Neue" charset="0"/>
                <a:cs typeface="Helvetica Neue" charset="0"/>
              </a:rPr>
              <a:t> in </a:t>
            </a:r>
            <a:r>
              <a:rPr lang="sk-SK" sz="1250" dirty="0" err="1">
                <a:latin typeface="Helvetica Neue" charset="0"/>
                <a:ea typeface="Helvetica Neue" charset="0"/>
                <a:cs typeface="Helvetica Neue" charset="0"/>
              </a:rPr>
              <a:t>plain</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language</a:t>
            </a:r>
            <a:r>
              <a:rPr lang="sk-SK" sz="1250" dirty="0">
                <a:latin typeface="Helvetica Neue" charset="0"/>
                <a:ea typeface="Helvetica Neue" charset="0"/>
                <a:cs typeface="Helvetica Neue" charset="0"/>
              </a:rPr>
              <a:t> (no </a:t>
            </a:r>
            <a:r>
              <a:rPr lang="sk-SK" sz="1250" dirty="0" err="1">
                <a:latin typeface="Helvetica Neue" charset="0"/>
                <a:ea typeface="Helvetica Neue" charset="0"/>
                <a:cs typeface="Helvetica Neue" charset="0"/>
              </a:rPr>
              <a:t>codes</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precisely</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indicate</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the</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problem</a:t>
            </a:r>
            <a:r>
              <a:rPr lang="sk-SK" sz="1250" dirty="0">
                <a:latin typeface="Helvetica Neue" charset="0"/>
                <a:ea typeface="Helvetica Neue" charset="0"/>
                <a:cs typeface="Helvetica Neue" charset="0"/>
              </a:rPr>
              <a:t>, and </a:t>
            </a:r>
            <a:r>
              <a:rPr lang="sk-SK" sz="1250" dirty="0" err="1">
                <a:latin typeface="Helvetica Neue" charset="0"/>
                <a:ea typeface="Helvetica Neue" charset="0"/>
                <a:cs typeface="Helvetica Neue" charset="0"/>
              </a:rPr>
              <a:t>constructively</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suggest</a:t>
            </a:r>
            <a:r>
              <a:rPr lang="sk-SK" sz="1250" dirty="0">
                <a:latin typeface="Helvetica Neue" charset="0"/>
                <a:ea typeface="Helvetica Neue" charset="0"/>
                <a:cs typeface="Helvetica Neue" charset="0"/>
              </a:rPr>
              <a:t> a </a:t>
            </a:r>
            <a:r>
              <a:rPr lang="sk-SK" sz="1250" dirty="0" err="1">
                <a:latin typeface="Helvetica Neue" charset="0"/>
                <a:ea typeface="Helvetica Neue" charset="0"/>
                <a:cs typeface="Helvetica Neue" charset="0"/>
              </a:rPr>
              <a:t>solution</a:t>
            </a:r>
            <a:r>
              <a:rPr lang="sk-SK" sz="1250" dirty="0">
                <a:latin typeface="Helvetica Neue" charset="0"/>
                <a:ea typeface="Helvetica Neue" charset="0"/>
                <a:cs typeface="Helvetica Neue" charset="0"/>
              </a:rPr>
              <a:t>.</a:t>
            </a:r>
          </a:p>
          <a:p>
            <a:pPr marL="0" indent="0">
              <a:buNone/>
            </a:pPr>
            <a:r>
              <a:rPr lang="sk-SK" sz="1250" dirty="0">
                <a:latin typeface="Helvetica Neue" charset="0"/>
                <a:ea typeface="Helvetica Neue" charset="0"/>
                <a:cs typeface="Helvetica Neue" charset="0"/>
              </a:rPr>
              <a:t> </a:t>
            </a:r>
          </a:p>
          <a:p>
            <a:pPr marL="0" indent="0">
              <a:buNone/>
            </a:pPr>
            <a:r>
              <a:rPr lang="sk-SK" sz="1250" b="1" dirty="0" err="1">
                <a:latin typeface="Helvetica Neue" charset="0"/>
                <a:ea typeface="Helvetica Neue" charset="0"/>
                <a:cs typeface="Helvetica Neue" charset="0"/>
              </a:rPr>
              <a:t>Help</a:t>
            </a:r>
            <a:r>
              <a:rPr lang="sk-SK" sz="1250" b="1" dirty="0">
                <a:latin typeface="Helvetica Neue" charset="0"/>
                <a:ea typeface="Helvetica Neue" charset="0"/>
                <a:cs typeface="Helvetica Neue" charset="0"/>
              </a:rPr>
              <a:t> and </a:t>
            </a:r>
            <a:r>
              <a:rPr lang="sk-SK" sz="1250" b="1" dirty="0" err="1">
                <a:latin typeface="Helvetica Neue" charset="0"/>
                <a:ea typeface="Helvetica Neue" charset="0"/>
                <a:cs typeface="Helvetica Neue" charset="0"/>
              </a:rPr>
              <a:t>documentation</a:t>
            </a:r>
            <a:endParaRPr lang="sk-SK" sz="1250" b="1" dirty="0">
              <a:latin typeface="Helvetica Neue" charset="0"/>
              <a:ea typeface="Helvetica Neue" charset="0"/>
              <a:cs typeface="Helvetica Neue" charset="0"/>
            </a:endParaRPr>
          </a:p>
          <a:p>
            <a:pPr marL="0" indent="0">
              <a:buNone/>
            </a:pPr>
            <a:r>
              <a:rPr lang="sk-SK" sz="1250" dirty="0" err="1">
                <a:latin typeface="Helvetica Neue" charset="0"/>
                <a:ea typeface="Helvetica Neue" charset="0"/>
                <a:cs typeface="Helvetica Neue" charset="0"/>
              </a:rPr>
              <a:t>Even</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though</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it</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is</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better</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if</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the</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system</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can</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be</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used</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without</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documentation</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it</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may</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be</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necessary</a:t>
            </a:r>
            <a:r>
              <a:rPr lang="sk-SK" sz="1250" dirty="0">
                <a:latin typeface="Helvetica Neue" charset="0"/>
                <a:ea typeface="Helvetica Neue" charset="0"/>
                <a:cs typeface="Helvetica Neue" charset="0"/>
              </a:rPr>
              <a:t> to </a:t>
            </a:r>
            <a:r>
              <a:rPr lang="sk-SK" sz="1250" dirty="0" err="1">
                <a:latin typeface="Helvetica Neue" charset="0"/>
                <a:ea typeface="Helvetica Neue" charset="0"/>
                <a:cs typeface="Helvetica Neue" charset="0"/>
              </a:rPr>
              <a:t>provide</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help</a:t>
            </a:r>
            <a:r>
              <a:rPr lang="sk-SK" sz="1250" dirty="0">
                <a:latin typeface="Helvetica Neue" charset="0"/>
                <a:ea typeface="Helvetica Neue" charset="0"/>
                <a:cs typeface="Helvetica Neue" charset="0"/>
              </a:rPr>
              <a:t> and </a:t>
            </a:r>
            <a:r>
              <a:rPr lang="sk-SK" sz="1250" dirty="0" err="1">
                <a:latin typeface="Helvetica Neue" charset="0"/>
                <a:ea typeface="Helvetica Neue" charset="0"/>
                <a:cs typeface="Helvetica Neue" charset="0"/>
              </a:rPr>
              <a:t>documentation</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Any</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such</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information</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should</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be</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easy</a:t>
            </a:r>
            <a:r>
              <a:rPr lang="sk-SK" sz="1250" dirty="0">
                <a:latin typeface="Helvetica Neue" charset="0"/>
                <a:ea typeface="Helvetica Neue" charset="0"/>
                <a:cs typeface="Helvetica Neue" charset="0"/>
              </a:rPr>
              <a:t> to </a:t>
            </a:r>
            <a:r>
              <a:rPr lang="sk-SK" sz="1250" dirty="0" err="1">
                <a:latin typeface="Helvetica Neue" charset="0"/>
                <a:ea typeface="Helvetica Neue" charset="0"/>
                <a:cs typeface="Helvetica Neue" charset="0"/>
              </a:rPr>
              <a:t>search</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focused</a:t>
            </a:r>
            <a:r>
              <a:rPr lang="sk-SK" sz="1250" dirty="0">
                <a:latin typeface="Helvetica Neue" charset="0"/>
                <a:ea typeface="Helvetica Neue" charset="0"/>
                <a:cs typeface="Helvetica Neue" charset="0"/>
              </a:rPr>
              <a:t> on </a:t>
            </a:r>
            <a:r>
              <a:rPr lang="sk-SK" sz="1250" dirty="0" err="1">
                <a:latin typeface="Helvetica Neue" charset="0"/>
                <a:ea typeface="Helvetica Neue" charset="0"/>
                <a:cs typeface="Helvetica Neue" charset="0"/>
              </a:rPr>
              <a:t>the</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user's</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task</a:t>
            </a:r>
            <a:r>
              <a:rPr lang="sk-SK" sz="1250" dirty="0">
                <a:latin typeface="Helvetica Neue" charset="0"/>
                <a:ea typeface="Helvetica Neue" charset="0"/>
                <a:cs typeface="Helvetica Neue" charset="0"/>
              </a:rPr>
              <a:t>, list </a:t>
            </a:r>
            <a:r>
              <a:rPr lang="sk-SK" sz="1250" dirty="0" err="1">
                <a:latin typeface="Helvetica Neue" charset="0"/>
                <a:ea typeface="Helvetica Neue" charset="0"/>
                <a:cs typeface="Helvetica Neue" charset="0"/>
              </a:rPr>
              <a:t>concrete</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steps</a:t>
            </a:r>
            <a:r>
              <a:rPr lang="sk-SK" sz="1250" dirty="0">
                <a:latin typeface="Helvetica Neue" charset="0"/>
                <a:ea typeface="Helvetica Neue" charset="0"/>
                <a:cs typeface="Helvetica Neue" charset="0"/>
              </a:rPr>
              <a:t> to </a:t>
            </a:r>
            <a:r>
              <a:rPr lang="sk-SK" sz="1250" dirty="0" err="1">
                <a:latin typeface="Helvetica Neue" charset="0"/>
                <a:ea typeface="Helvetica Neue" charset="0"/>
                <a:cs typeface="Helvetica Neue" charset="0"/>
              </a:rPr>
              <a:t>be</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carried</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out</a:t>
            </a:r>
            <a:r>
              <a:rPr lang="sk-SK" sz="1250" dirty="0">
                <a:latin typeface="Helvetica Neue" charset="0"/>
                <a:ea typeface="Helvetica Neue" charset="0"/>
                <a:cs typeface="Helvetica Neue" charset="0"/>
              </a:rPr>
              <a:t>, and </a:t>
            </a:r>
            <a:r>
              <a:rPr lang="sk-SK" sz="1250" dirty="0" err="1">
                <a:latin typeface="Helvetica Neue" charset="0"/>
                <a:ea typeface="Helvetica Neue" charset="0"/>
                <a:cs typeface="Helvetica Neue" charset="0"/>
              </a:rPr>
              <a:t>not</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be</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too</a:t>
            </a:r>
            <a:r>
              <a:rPr lang="sk-SK" sz="1250" dirty="0">
                <a:latin typeface="Helvetica Neue" charset="0"/>
                <a:ea typeface="Helvetica Neue" charset="0"/>
                <a:cs typeface="Helvetica Neue" charset="0"/>
              </a:rPr>
              <a:t> </a:t>
            </a:r>
            <a:r>
              <a:rPr lang="sk-SK" sz="1250" dirty="0" err="1">
                <a:latin typeface="Helvetica Neue" charset="0"/>
                <a:ea typeface="Helvetica Neue" charset="0"/>
                <a:cs typeface="Helvetica Neue" charset="0"/>
              </a:rPr>
              <a:t>large</a:t>
            </a:r>
            <a:r>
              <a:rPr lang="sk-SK" sz="1250" dirty="0">
                <a:latin typeface="Helvetica Neue" charset="0"/>
                <a:ea typeface="Helvetica Neue" charset="0"/>
                <a:cs typeface="Helvetica Neue" charset="0"/>
              </a:rPr>
              <a:t>.</a:t>
            </a:r>
          </a:p>
          <a:p>
            <a:pPr marL="0" indent="0">
              <a:lnSpc>
                <a:spcPct val="80000"/>
              </a:lnSpc>
              <a:spcBef>
                <a:spcPts val="0"/>
              </a:spcBef>
              <a:buNone/>
            </a:pPr>
            <a:endParaRPr lang="en-US" sz="1250" dirty="0">
              <a:latin typeface="Helvetica Neue" charset="0"/>
              <a:ea typeface="Helvetica Neue" charset="0"/>
              <a:cs typeface="Helvetica Neue" charset="0"/>
            </a:endParaRPr>
          </a:p>
        </p:txBody>
      </p:sp>
    </p:spTree>
    <p:extLst>
      <p:ext uri="{BB962C8B-B14F-4D97-AF65-F5344CB8AC3E}">
        <p14:creationId xmlns:p14="http://schemas.microsoft.com/office/powerpoint/2010/main" val="16326238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Record the problem</a:t>
            </a:r>
          </a:p>
        </p:txBody>
      </p:sp>
      <p:sp>
        <p:nvSpPr>
          <p:cNvPr id="3" name="Content Placeholder 2"/>
          <p:cNvSpPr>
            <a:spLocks noGrp="1"/>
          </p:cNvSpPr>
          <p:nvPr>
            <p:ph idx="1"/>
          </p:nvPr>
        </p:nvSpPr>
        <p:spPr>
          <a:xfrm>
            <a:off x="457200" y="1600200"/>
            <a:ext cx="8229600" cy="4917983"/>
          </a:xfrm>
        </p:spPr>
        <p:txBody>
          <a:bodyPr>
            <a:normAutofit fontScale="92500" lnSpcReduction="20000"/>
          </a:bodyPr>
          <a:lstStyle/>
          <a:p>
            <a:r>
              <a:rPr lang="en-US" dirty="0"/>
              <a:t>No standard format (but can use Usability Aspect Reports or UARs)</a:t>
            </a:r>
          </a:p>
          <a:p>
            <a:r>
              <a:rPr lang="en-US" dirty="0"/>
              <a:t>Each usability problem (or feature) should be documented, and include</a:t>
            </a:r>
          </a:p>
          <a:p>
            <a:pPr lvl="1"/>
            <a:r>
              <a:rPr lang="en-US" dirty="0"/>
              <a:t>Descriptive title</a:t>
            </a:r>
          </a:p>
          <a:p>
            <a:pPr lvl="1"/>
            <a:r>
              <a:rPr lang="en-US" dirty="0"/>
              <a:t>Evaluator name</a:t>
            </a:r>
          </a:p>
          <a:p>
            <a:pPr lvl="1"/>
            <a:r>
              <a:rPr lang="en-US" dirty="0"/>
              <a:t>Location (or steps to reproduce)</a:t>
            </a:r>
          </a:p>
          <a:p>
            <a:pPr lvl="1"/>
            <a:r>
              <a:rPr lang="en-US" dirty="0"/>
              <a:t>A picture</a:t>
            </a:r>
          </a:p>
          <a:p>
            <a:pPr lvl="1"/>
            <a:r>
              <a:rPr lang="en-US" dirty="0"/>
              <a:t>Description of problem</a:t>
            </a:r>
          </a:p>
          <a:p>
            <a:pPr lvl="1"/>
            <a:r>
              <a:rPr lang="en-US" dirty="0"/>
              <a:t>Relevant heuristic </a:t>
            </a:r>
          </a:p>
          <a:p>
            <a:pPr lvl="1"/>
            <a:r>
              <a:rPr lang="en-US" dirty="0"/>
              <a:t>Severity (e.g., low, medium, high, critical)</a:t>
            </a:r>
          </a:p>
          <a:p>
            <a:pPr lvl="1"/>
            <a:r>
              <a:rPr lang="en-US" dirty="0"/>
              <a:t>Proposed solution</a:t>
            </a:r>
          </a:p>
          <a:p>
            <a:pPr lvl="1" indent="0">
              <a:buNone/>
            </a:pPr>
            <a:endParaRPr lang="en-US" dirty="0"/>
          </a:p>
        </p:txBody>
      </p:sp>
    </p:spTree>
    <p:extLst>
      <p:ext uri="{BB962C8B-B14F-4D97-AF65-F5344CB8AC3E}">
        <p14:creationId xmlns:p14="http://schemas.microsoft.com/office/powerpoint/2010/main" val="41422113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Nielsen’s Severity Ratings</a:t>
            </a:r>
          </a:p>
        </p:txBody>
      </p:sp>
      <p:sp>
        <p:nvSpPr>
          <p:cNvPr id="3" name="Content Placeholder 2"/>
          <p:cNvSpPr>
            <a:spLocks noGrp="1"/>
          </p:cNvSpPr>
          <p:nvPr>
            <p:ph idx="1"/>
          </p:nvPr>
        </p:nvSpPr>
        <p:spPr>
          <a:xfrm>
            <a:off x="457200" y="1417638"/>
            <a:ext cx="7931888" cy="4954651"/>
          </a:xfrm>
        </p:spPr>
        <p:txBody>
          <a:bodyPr>
            <a:normAutofit fontScale="92500" lnSpcReduction="10000"/>
          </a:bodyPr>
          <a:lstStyle/>
          <a:p>
            <a:pPr marL="514350" indent="-514350">
              <a:buFont typeface="+mj-lt"/>
              <a:buAutoNum type="arabicPeriod"/>
            </a:pPr>
            <a:r>
              <a:rPr lang="en-US" sz="2800" b="1" dirty="0"/>
              <a:t>Usability Blemish. </a:t>
            </a:r>
            <a:r>
              <a:rPr lang="en-US" sz="2800" dirty="0"/>
              <a:t>Mild annoyance or cosmetic problem. Easily avoidable.</a:t>
            </a:r>
          </a:p>
          <a:p>
            <a:pPr marL="514350" indent="-514350">
              <a:buFont typeface="+mj-lt"/>
              <a:buAutoNum type="arabicPeriod"/>
            </a:pPr>
            <a:r>
              <a:rPr lang="en-US" sz="2800" b="1" dirty="0"/>
              <a:t>Minor usability problem. </a:t>
            </a:r>
            <a:r>
              <a:rPr lang="en-US" sz="2800" dirty="0"/>
              <a:t>Annoying ,misleading, unclear, confusing. Can be avoided or easily learned. May occur only once.</a:t>
            </a:r>
          </a:p>
          <a:p>
            <a:pPr marL="514350" indent="-514350">
              <a:buFont typeface="+mj-lt"/>
              <a:buAutoNum type="arabicPeriod"/>
            </a:pPr>
            <a:r>
              <a:rPr lang="en-US" sz="2800" b="1" dirty="0"/>
              <a:t>Major usability problem. </a:t>
            </a:r>
            <a:r>
              <a:rPr lang="en-US" sz="2800" dirty="0"/>
              <a:t>Prevents users from completing tasks. Highly confusing or unclear. </a:t>
            </a:r>
            <a:br>
              <a:rPr lang="en-US" sz="2800" dirty="0"/>
            </a:br>
            <a:r>
              <a:rPr lang="en-US" sz="2800" dirty="0"/>
              <a:t>Difficult to avoid. Likely to occur more than once.</a:t>
            </a:r>
          </a:p>
          <a:p>
            <a:pPr marL="514350" indent="-514350">
              <a:buFont typeface="+mj-lt"/>
              <a:buAutoNum type="arabicPeriod"/>
            </a:pPr>
            <a:r>
              <a:rPr lang="en-US" sz="2800" b="1" dirty="0"/>
              <a:t>Critical usability problem. </a:t>
            </a:r>
            <a:r>
              <a:rPr lang="en-US" sz="2800" dirty="0"/>
              <a:t>Users won’t be able to accomplish their goals, and may quit using system.</a:t>
            </a:r>
          </a:p>
        </p:txBody>
      </p:sp>
    </p:spTree>
    <p:extLst>
      <p:ext uri="{BB962C8B-B14F-4D97-AF65-F5344CB8AC3E}">
        <p14:creationId xmlns:p14="http://schemas.microsoft.com/office/powerpoint/2010/main" val="26141690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08744" y="344556"/>
            <a:ext cx="8556959" cy="6196419"/>
          </a:xfrm>
          <a:prstGeom prst="rect">
            <a:avLst/>
          </a:prstGeom>
        </p:spPr>
      </p:pic>
    </p:spTree>
    <p:extLst>
      <p:ext uri="{BB962C8B-B14F-4D97-AF65-F5344CB8AC3E}">
        <p14:creationId xmlns:p14="http://schemas.microsoft.com/office/powerpoint/2010/main" val="2180633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Keep looking for problems!</a:t>
            </a:r>
          </a:p>
        </p:txBody>
      </p:sp>
      <p:sp>
        <p:nvSpPr>
          <p:cNvPr id="3" name="Content Placeholder 2"/>
          <p:cNvSpPr>
            <a:spLocks noGrp="1"/>
          </p:cNvSpPr>
          <p:nvPr>
            <p:ph sz="half" idx="1"/>
          </p:nvPr>
        </p:nvSpPr>
        <p:spPr>
          <a:xfrm>
            <a:off x="457200" y="1522531"/>
            <a:ext cx="4404614" cy="5026929"/>
          </a:xfrm>
        </p:spPr>
        <p:txBody>
          <a:bodyPr>
            <a:normAutofit/>
          </a:bodyPr>
          <a:lstStyle/>
          <a:p>
            <a:r>
              <a:rPr lang="en-US" dirty="0"/>
              <a:t>Usually takes a few hours</a:t>
            </a:r>
          </a:p>
          <a:p>
            <a:endParaRPr lang="en-US" dirty="0"/>
          </a:p>
          <a:p>
            <a:r>
              <a:rPr lang="en-US" dirty="0"/>
              <a:t>A shorter time may not find important problems</a:t>
            </a:r>
          </a:p>
          <a:p>
            <a:endParaRPr lang="en-US" dirty="0"/>
          </a:p>
          <a:p>
            <a:r>
              <a:rPr lang="en-US" dirty="0"/>
              <a:t>For very large interfaces, it is good to break heuristic evaluation into several sessions</a:t>
            </a:r>
          </a:p>
        </p:txBody>
      </p:sp>
      <p:pic>
        <p:nvPicPr>
          <p:cNvPr id="5" name="Content Placeholder 4" descr="Screen shot 2013-02-11 at 12.27.34 PM.png"/>
          <p:cNvPicPr>
            <a:picLocks noGrp="1" noChangeAspect="1"/>
          </p:cNvPicPr>
          <p:nvPr>
            <p:ph sz="half" idx="2"/>
          </p:nvPr>
        </p:nvPicPr>
        <p:blipFill>
          <a:blip r:embed="rId3">
            <a:extLst>
              <a:ext uri="{28A0092B-C50C-407E-A947-70E740481C1C}">
                <a14:useLocalDpi xmlns:a14="http://schemas.microsoft.com/office/drawing/2010/main" val="0"/>
              </a:ext>
            </a:extLst>
          </a:blip>
          <a:srcRect t="-4640" b="-4640"/>
          <a:stretch>
            <a:fillRect/>
          </a:stretch>
        </p:blipFill>
        <p:spPr>
          <a:xfrm>
            <a:off x="5105400" y="1522531"/>
            <a:ext cx="4038600" cy="4525963"/>
          </a:xfrm>
        </p:spPr>
      </p:pic>
    </p:spTree>
    <p:extLst>
      <p:ext uri="{BB962C8B-B14F-4D97-AF65-F5344CB8AC3E}">
        <p14:creationId xmlns:p14="http://schemas.microsoft.com/office/powerpoint/2010/main" val="12243315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386A0-1E21-6148-81E1-7769F602AF5E}"/>
              </a:ext>
            </a:extLst>
          </p:cNvPr>
          <p:cNvSpPr>
            <a:spLocks noGrp="1"/>
          </p:cNvSpPr>
          <p:nvPr>
            <p:ph type="title"/>
          </p:nvPr>
        </p:nvSpPr>
        <p:spPr/>
        <p:txBody>
          <a:bodyPr/>
          <a:lstStyle/>
          <a:p>
            <a:r>
              <a:rPr lang="en-US"/>
              <a:t>Custom heuristics</a:t>
            </a:r>
          </a:p>
        </p:txBody>
      </p:sp>
      <p:sp>
        <p:nvSpPr>
          <p:cNvPr id="5" name="Content Placeholder 4">
            <a:extLst>
              <a:ext uri="{FF2B5EF4-FFF2-40B4-BE49-F238E27FC236}">
                <a16:creationId xmlns:a16="http://schemas.microsoft.com/office/drawing/2014/main" id="{56E61700-9DDB-3248-9BC2-50E8AF786592}"/>
              </a:ext>
            </a:extLst>
          </p:cNvPr>
          <p:cNvSpPr>
            <a:spLocks noGrp="1"/>
          </p:cNvSpPr>
          <p:nvPr>
            <p:ph idx="1"/>
          </p:nvPr>
        </p:nvSpPr>
        <p:spPr/>
        <p:txBody>
          <a:bodyPr/>
          <a:lstStyle/>
          <a:p>
            <a:r>
              <a:rPr lang="en-US"/>
              <a:t>Nielsen’s heuristics are general</a:t>
            </a:r>
          </a:p>
          <a:p>
            <a:r>
              <a:rPr lang="en-US"/>
              <a:t>What is most important about our project?</a:t>
            </a:r>
          </a:p>
          <a:p>
            <a:r>
              <a:rPr lang="en-US"/>
              <a:t>We can make new heuristics for our particular use</a:t>
            </a:r>
          </a:p>
        </p:txBody>
      </p:sp>
    </p:spTree>
    <p:extLst>
      <p:ext uri="{BB962C8B-B14F-4D97-AF65-F5344CB8AC3E}">
        <p14:creationId xmlns:p14="http://schemas.microsoft.com/office/powerpoint/2010/main" val="39555076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F5658-A233-9C49-B062-AC5DC5DA022D}"/>
              </a:ext>
            </a:extLst>
          </p:cNvPr>
          <p:cNvSpPr>
            <a:spLocks noGrp="1"/>
          </p:cNvSpPr>
          <p:nvPr>
            <p:ph type="title"/>
          </p:nvPr>
        </p:nvSpPr>
        <p:spPr/>
        <p:txBody>
          <a:bodyPr/>
          <a:lstStyle/>
          <a:p>
            <a:r>
              <a:rPr lang="en-US"/>
              <a:t>Example of custom heuristics</a:t>
            </a:r>
          </a:p>
        </p:txBody>
      </p:sp>
      <p:pic>
        <p:nvPicPr>
          <p:cNvPr id="4" name="Picture 3">
            <a:extLst>
              <a:ext uri="{FF2B5EF4-FFF2-40B4-BE49-F238E27FC236}">
                <a16:creationId xmlns:a16="http://schemas.microsoft.com/office/drawing/2014/main" id="{61A3C3BC-157B-5E4D-A104-6E0F9DCC3F34}"/>
              </a:ext>
            </a:extLst>
          </p:cNvPr>
          <p:cNvPicPr>
            <a:picLocks noChangeAspect="1"/>
          </p:cNvPicPr>
          <p:nvPr/>
        </p:nvPicPr>
        <p:blipFill>
          <a:blip r:embed="rId3"/>
          <a:stretch>
            <a:fillRect/>
          </a:stretch>
        </p:blipFill>
        <p:spPr>
          <a:xfrm>
            <a:off x="174059" y="1856898"/>
            <a:ext cx="6002806" cy="5001102"/>
          </a:xfrm>
          <a:prstGeom prst="rect">
            <a:avLst/>
          </a:prstGeom>
        </p:spPr>
      </p:pic>
      <p:pic>
        <p:nvPicPr>
          <p:cNvPr id="5" name="Picture 4">
            <a:extLst>
              <a:ext uri="{FF2B5EF4-FFF2-40B4-BE49-F238E27FC236}">
                <a16:creationId xmlns:a16="http://schemas.microsoft.com/office/drawing/2014/main" id="{6EEADF34-3ADC-494E-B357-6C0F3D3C8FAC}"/>
              </a:ext>
            </a:extLst>
          </p:cNvPr>
          <p:cNvPicPr>
            <a:picLocks noChangeAspect="1"/>
          </p:cNvPicPr>
          <p:nvPr/>
        </p:nvPicPr>
        <p:blipFill>
          <a:blip r:embed="rId4"/>
          <a:stretch>
            <a:fillRect/>
          </a:stretch>
        </p:blipFill>
        <p:spPr>
          <a:xfrm>
            <a:off x="6302384" y="2462762"/>
            <a:ext cx="2841616" cy="2441748"/>
          </a:xfrm>
          <a:prstGeom prst="rect">
            <a:avLst/>
          </a:prstGeom>
        </p:spPr>
      </p:pic>
    </p:spTree>
    <p:extLst>
      <p:ext uri="{BB962C8B-B14F-4D97-AF65-F5344CB8AC3E}">
        <p14:creationId xmlns:p14="http://schemas.microsoft.com/office/powerpoint/2010/main" val="343139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6E63D-573F-C743-9E6A-3495AEB32BA8}"/>
              </a:ext>
            </a:extLst>
          </p:cNvPr>
          <p:cNvSpPr>
            <a:spLocks noGrp="1"/>
          </p:cNvSpPr>
          <p:nvPr>
            <p:ph type="title"/>
          </p:nvPr>
        </p:nvSpPr>
        <p:spPr/>
        <p:txBody>
          <a:bodyPr>
            <a:normAutofit/>
          </a:bodyPr>
          <a:lstStyle/>
          <a:p>
            <a:r>
              <a:rPr lang="en-US" sz="3200"/>
              <a:t>New heuristics for ambient displays</a:t>
            </a:r>
          </a:p>
        </p:txBody>
      </p:sp>
      <p:sp>
        <p:nvSpPr>
          <p:cNvPr id="3" name="Content Placeholder 2">
            <a:extLst>
              <a:ext uri="{FF2B5EF4-FFF2-40B4-BE49-F238E27FC236}">
                <a16:creationId xmlns:a16="http://schemas.microsoft.com/office/drawing/2014/main" id="{FE042373-DE01-1248-9280-671BDF4A9526}"/>
              </a:ext>
            </a:extLst>
          </p:cNvPr>
          <p:cNvSpPr>
            <a:spLocks noGrp="1"/>
          </p:cNvSpPr>
          <p:nvPr>
            <p:ph idx="1"/>
          </p:nvPr>
        </p:nvSpPr>
        <p:spPr/>
        <p:txBody>
          <a:bodyPr>
            <a:normAutofit/>
          </a:bodyPr>
          <a:lstStyle/>
          <a:p>
            <a:r>
              <a:rPr lang="en-US" b="1"/>
              <a:t>Aesthetic and Pleasing Design.</a:t>
            </a:r>
            <a:r>
              <a:rPr lang="en-US"/>
              <a:t> The display should be pleasing when it is placed in the intended setting.</a:t>
            </a:r>
          </a:p>
          <a:p>
            <a:r>
              <a:rPr lang="en-US" b="1"/>
              <a:t>Visibility of State.</a:t>
            </a:r>
            <a:r>
              <a:rPr lang="en-US"/>
              <a:t> An ambient display should make the states of the system noticeable. The transition from one state to another should be easily perceptible.</a:t>
            </a:r>
          </a:p>
        </p:txBody>
      </p:sp>
    </p:spTree>
    <p:extLst>
      <p:ext uri="{BB962C8B-B14F-4D97-AF65-F5344CB8AC3E}">
        <p14:creationId xmlns:p14="http://schemas.microsoft.com/office/powerpoint/2010/main" val="31273759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What makes a good X?</a:t>
            </a:r>
          </a:p>
        </p:txBody>
      </p:sp>
      <p:sp>
        <p:nvSpPr>
          <p:cNvPr id="3" name="Content Placeholder 2"/>
          <p:cNvSpPr>
            <a:spLocks noGrp="1"/>
          </p:cNvSpPr>
          <p:nvPr>
            <p:ph idx="1"/>
          </p:nvPr>
        </p:nvSpPr>
        <p:spPr/>
        <p:txBody>
          <a:bodyPr/>
          <a:lstStyle/>
          <a:p>
            <a:r>
              <a:rPr lang="en-US"/>
              <a:t>To get the most of this method, we may want to consider our own heuristics</a:t>
            </a:r>
          </a:p>
          <a:p>
            <a:endParaRPr lang="en-US"/>
          </a:p>
          <a:p>
            <a:r>
              <a:rPr lang="en-US"/>
              <a:t>Can be based on study observations, end user comments, prior studies</a:t>
            </a:r>
          </a:p>
        </p:txBody>
      </p:sp>
    </p:spTree>
    <p:extLst>
      <p:ext uri="{BB962C8B-B14F-4D97-AF65-F5344CB8AC3E}">
        <p14:creationId xmlns:p14="http://schemas.microsoft.com/office/powerpoint/2010/main" val="31202065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17099"/>
          </a:xfrm>
        </p:spPr>
        <p:txBody>
          <a:bodyPr>
            <a:normAutofit fontScale="90000"/>
          </a:bodyPr>
          <a:lstStyle/>
          <a:p>
            <a:r>
              <a:rPr lang="en-US"/>
              <a:t>Brainstorming heuristics</a:t>
            </a:r>
          </a:p>
        </p:txBody>
      </p:sp>
      <p:sp>
        <p:nvSpPr>
          <p:cNvPr id="3" name="Content Placeholder 2"/>
          <p:cNvSpPr>
            <a:spLocks noGrp="1"/>
          </p:cNvSpPr>
          <p:nvPr>
            <p:ph idx="1"/>
          </p:nvPr>
        </p:nvSpPr>
        <p:spPr>
          <a:xfrm>
            <a:off x="457200" y="1113905"/>
            <a:ext cx="8229600" cy="1183246"/>
          </a:xfrm>
        </p:spPr>
        <p:txBody>
          <a:bodyPr>
            <a:noAutofit/>
          </a:bodyPr>
          <a:lstStyle/>
          <a:p>
            <a:pPr>
              <a:spcBef>
                <a:spcPts val="0"/>
              </a:spcBef>
              <a:spcAft>
                <a:spcPts val="1200"/>
              </a:spcAft>
            </a:pPr>
            <a:r>
              <a:rPr lang="en-US" sz="1900"/>
              <a:t>Let’s spend a few minutes brainstorming heuristics for </a:t>
            </a:r>
            <a:r>
              <a:rPr lang="en-US" sz="1900" b="1"/>
              <a:t>AR apps</a:t>
            </a:r>
          </a:p>
          <a:p>
            <a:pPr>
              <a:spcBef>
                <a:spcPts val="0"/>
              </a:spcBef>
              <a:spcAft>
                <a:spcPts val="1200"/>
              </a:spcAft>
            </a:pPr>
            <a:r>
              <a:rPr lang="en-US" sz="1900"/>
              <a:t>How might we rate whether an email inbox is well designed for use?</a:t>
            </a:r>
          </a:p>
          <a:p>
            <a:pPr>
              <a:spcBef>
                <a:spcPts val="0"/>
              </a:spcBef>
              <a:spcAft>
                <a:spcPts val="1200"/>
              </a:spcAft>
            </a:pPr>
            <a:r>
              <a:rPr lang="en-US" sz="1900"/>
              <a:t>Come up with at least 2 on your own (2N per group) </a:t>
            </a:r>
          </a:p>
        </p:txBody>
      </p:sp>
      <p:pic>
        <p:nvPicPr>
          <p:cNvPr id="7" name="Picture 6">
            <a:extLst>
              <a:ext uri="{FF2B5EF4-FFF2-40B4-BE49-F238E27FC236}">
                <a16:creationId xmlns:a16="http://schemas.microsoft.com/office/drawing/2014/main" id="{5BDEE8B5-1B8D-A94A-954F-896AC5DED76B}"/>
              </a:ext>
            </a:extLst>
          </p:cNvPr>
          <p:cNvPicPr>
            <a:picLocks noChangeAspect="1"/>
          </p:cNvPicPr>
          <p:nvPr/>
        </p:nvPicPr>
        <p:blipFill>
          <a:blip r:embed="rId3"/>
          <a:stretch>
            <a:fillRect/>
          </a:stretch>
        </p:blipFill>
        <p:spPr>
          <a:xfrm>
            <a:off x="561852" y="2939388"/>
            <a:ext cx="3810000" cy="2133600"/>
          </a:xfrm>
          <a:prstGeom prst="rect">
            <a:avLst/>
          </a:prstGeom>
        </p:spPr>
      </p:pic>
      <p:pic>
        <p:nvPicPr>
          <p:cNvPr id="8" name="Picture 7">
            <a:extLst>
              <a:ext uri="{FF2B5EF4-FFF2-40B4-BE49-F238E27FC236}">
                <a16:creationId xmlns:a16="http://schemas.microsoft.com/office/drawing/2014/main" id="{ABB17705-91E7-A341-923E-899ED65EFF36}"/>
              </a:ext>
            </a:extLst>
          </p:cNvPr>
          <p:cNvPicPr>
            <a:picLocks noChangeAspect="1"/>
          </p:cNvPicPr>
          <p:nvPr/>
        </p:nvPicPr>
        <p:blipFill>
          <a:blip r:embed="rId4"/>
          <a:stretch>
            <a:fillRect/>
          </a:stretch>
        </p:blipFill>
        <p:spPr>
          <a:xfrm>
            <a:off x="4582732" y="2939388"/>
            <a:ext cx="3999416" cy="2368255"/>
          </a:xfrm>
          <a:prstGeom prst="rect">
            <a:avLst/>
          </a:prstGeom>
        </p:spPr>
      </p:pic>
    </p:spTree>
    <p:extLst>
      <p:ext uri="{BB962C8B-B14F-4D97-AF65-F5344CB8AC3E}">
        <p14:creationId xmlns:p14="http://schemas.microsoft.com/office/powerpoint/2010/main" val="40601527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Our AR app heuristics</a:t>
            </a:r>
          </a:p>
        </p:txBody>
      </p:sp>
      <p:sp>
        <p:nvSpPr>
          <p:cNvPr id="3" name="Content Placeholder 2"/>
          <p:cNvSpPr>
            <a:spLocks noGrp="1"/>
          </p:cNvSpPr>
          <p:nvPr>
            <p:ph sz="half" idx="1"/>
          </p:nvPr>
        </p:nvSpPr>
        <p:spPr/>
        <p:txBody>
          <a:bodyPr>
            <a:normAutofit/>
          </a:bodyPr>
          <a:lstStyle/>
          <a:p>
            <a:r>
              <a:rPr lang="en-US"/>
              <a:t>Responsiveness to head movement</a:t>
            </a:r>
          </a:p>
          <a:p>
            <a:r>
              <a:rPr lang="en-US"/>
              <a:t>Field of view</a:t>
            </a:r>
          </a:p>
          <a:p>
            <a:pPr lvl="1"/>
            <a:r>
              <a:rPr lang="en-US"/>
              <a:t>Maximizing it</a:t>
            </a:r>
          </a:p>
          <a:p>
            <a:pPr lvl="1"/>
            <a:r>
              <a:rPr lang="en-US"/>
              <a:t>Making good use of it</a:t>
            </a:r>
          </a:p>
          <a:p>
            <a:r>
              <a:rPr lang="en-US"/>
              <a:t>Movement required is reasonable for where it’s being used</a:t>
            </a:r>
          </a:p>
          <a:p>
            <a:endParaRPr lang="en-US"/>
          </a:p>
        </p:txBody>
      </p:sp>
      <p:sp>
        <p:nvSpPr>
          <p:cNvPr id="5" name="Content Placeholder 4">
            <a:extLst>
              <a:ext uri="{FF2B5EF4-FFF2-40B4-BE49-F238E27FC236}">
                <a16:creationId xmlns:a16="http://schemas.microsoft.com/office/drawing/2014/main" id="{EBBCC224-4356-DF49-8B33-31FD8477D6A5}"/>
              </a:ext>
            </a:extLst>
          </p:cNvPr>
          <p:cNvSpPr>
            <a:spLocks noGrp="1"/>
          </p:cNvSpPr>
          <p:nvPr>
            <p:ph sz="half" idx="2"/>
          </p:nvPr>
        </p:nvSpPr>
        <p:spPr/>
        <p:txBody>
          <a:bodyPr/>
          <a:lstStyle/>
          <a:p>
            <a:r>
              <a:rPr lang="en-US"/>
              <a:t>Minimum space requirements</a:t>
            </a:r>
          </a:p>
        </p:txBody>
      </p:sp>
      <p:sp>
        <p:nvSpPr>
          <p:cNvPr id="4" name="Content Placeholder 2"/>
          <p:cNvSpPr txBox="1">
            <a:spLocks/>
          </p:cNvSpPr>
          <p:nvPr/>
        </p:nvSpPr>
        <p:spPr>
          <a:xfrm>
            <a:off x="4813738" y="1600199"/>
            <a:ext cx="3988676"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Helvetica Neue"/>
                <a:ea typeface="+mn-ea"/>
                <a:cs typeface="Helvetica Neue"/>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Helvetica Neue"/>
                <a:ea typeface="+mn-ea"/>
                <a:cs typeface="Helvetica Neue"/>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Helvetica Neue"/>
                <a:ea typeface="+mn-ea"/>
                <a:cs typeface="Helvetica Neue"/>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Helvetica Neue"/>
                <a:ea typeface="+mn-ea"/>
                <a:cs typeface="Helvetica Neue"/>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Helvetica Neue"/>
                <a:ea typeface="+mn-ea"/>
                <a:cs typeface="Helvetica Neue"/>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a:p>
        </p:txBody>
      </p:sp>
    </p:spTree>
    <p:extLst>
      <p:ext uri="{BB962C8B-B14F-4D97-AF65-F5344CB8AC3E}">
        <p14:creationId xmlns:p14="http://schemas.microsoft.com/office/powerpoint/2010/main" val="8262890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14C3F-BF09-E143-BD49-EF34DAD8E844}"/>
              </a:ext>
            </a:extLst>
          </p:cNvPr>
          <p:cNvSpPr>
            <a:spLocks noGrp="1"/>
          </p:cNvSpPr>
          <p:nvPr>
            <p:ph type="title"/>
          </p:nvPr>
        </p:nvSpPr>
        <p:spPr/>
        <p:txBody>
          <a:bodyPr>
            <a:normAutofit/>
          </a:bodyPr>
          <a:lstStyle/>
          <a:p>
            <a:r>
              <a:rPr lang="en-US" sz="3200"/>
              <a:t>Heuristics are not just for evaluation</a:t>
            </a:r>
          </a:p>
        </p:txBody>
      </p:sp>
      <p:sp>
        <p:nvSpPr>
          <p:cNvPr id="3" name="Content Placeholder 2">
            <a:extLst>
              <a:ext uri="{FF2B5EF4-FFF2-40B4-BE49-F238E27FC236}">
                <a16:creationId xmlns:a16="http://schemas.microsoft.com/office/drawing/2014/main" id="{D8C718AE-9C00-E14B-840B-36498B850BF6}"/>
              </a:ext>
            </a:extLst>
          </p:cNvPr>
          <p:cNvSpPr>
            <a:spLocks noGrp="1"/>
          </p:cNvSpPr>
          <p:nvPr>
            <p:ph idx="1"/>
          </p:nvPr>
        </p:nvSpPr>
        <p:spPr/>
        <p:txBody>
          <a:bodyPr/>
          <a:lstStyle/>
          <a:p>
            <a:r>
              <a:rPr lang="en-US"/>
              <a:t>If you’re working on Project X,</a:t>
            </a:r>
          </a:p>
          <a:p>
            <a:r>
              <a:rPr lang="en-US"/>
              <a:t>What makes a good X?</a:t>
            </a:r>
          </a:p>
          <a:p>
            <a:endParaRPr lang="en-US"/>
          </a:p>
          <a:p>
            <a:r>
              <a:rPr lang="en-US" b="1"/>
              <a:t>Activity: </a:t>
            </a:r>
            <a:r>
              <a:rPr lang="en-US"/>
              <a:t>Take 3 minutes to answer this question for your project</a:t>
            </a:r>
          </a:p>
        </p:txBody>
      </p:sp>
    </p:spTree>
    <p:extLst>
      <p:ext uri="{BB962C8B-B14F-4D97-AF65-F5344CB8AC3E}">
        <p14:creationId xmlns:p14="http://schemas.microsoft.com/office/powerpoint/2010/main" val="5929879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7F52D-BB19-7D4F-9CF3-52959FB8086C}"/>
              </a:ext>
            </a:extLst>
          </p:cNvPr>
          <p:cNvSpPr>
            <a:spLocks noGrp="1"/>
          </p:cNvSpPr>
          <p:nvPr>
            <p:ph type="title"/>
          </p:nvPr>
        </p:nvSpPr>
        <p:spPr/>
        <p:txBody>
          <a:bodyPr/>
          <a:lstStyle/>
          <a:p>
            <a:r>
              <a:rPr lang="en-US"/>
              <a:t>Using heuristic evaluations</a:t>
            </a:r>
          </a:p>
        </p:txBody>
      </p:sp>
      <p:sp>
        <p:nvSpPr>
          <p:cNvPr id="3" name="Content Placeholder 2">
            <a:extLst>
              <a:ext uri="{FF2B5EF4-FFF2-40B4-BE49-F238E27FC236}">
                <a16:creationId xmlns:a16="http://schemas.microsoft.com/office/drawing/2014/main" id="{E0DF4807-2671-FA44-818D-291EFE8C73C9}"/>
              </a:ext>
            </a:extLst>
          </p:cNvPr>
          <p:cNvSpPr>
            <a:spLocks noGrp="1"/>
          </p:cNvSpPr>
          <p:nvPr>
            <p:ph idx="1"/>
          </p:nvPr>
        </p:nvSpPr>
        <p:spPr/>
        <p:txBody>
          <a:bodyPr/>
          <a:lstStyle/>
          <a:p>
            <a:r>
              <a:rPr lang="en-US"/>
              <a:t>Good way to find usability bugs, especially with changes over time</a:t>
            </a:r>
          </a:p>
          <a:p>
            <a:r>
              <a:rPr lang="en-US"/>
              <a:t>Likely to miss some errors that a “real” user would catch</a:t>
            </a:r>
          </a:p>
          <a:p>
            <a:r>
              <a:rPr lang="en-US"/>
              <a:t>Best used in combination with other testing techniques</a:t>
            </a:r>
          </a:p>
        </p:txBody>
      </p:sp>
    </p:spTree>
    <p:extLst>
      <p:ext uri="{BB962C8B-B14F-4D97-AF65-F5344CB8AC3E}">
        <p14:creationId xmlns:p14="http://schemas.microsoft.com/office/powerpoint/2010/main" val="25234035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91D98-79F1-7245-9C3C-B4DF5B503CBA}"/>
              </a:ext>
            </a:extLst>
          </p:cNvPr>
          <p:cNvSpPr>
            <a:spLocks noGrp="1"/>
          </p:cNvSpPr>
          <p:nvPr>
            <p:ph type="title"/>
          </p:nvPr>
        </p:nvSpPr>
        <p:spPr/>
        <p:txBody>
          <a:bodyPr>
            <a:noAutofit/>
          </a:bodyPr>
          <a:lstStyle/>
          <a:p>
            <a:r>
              <a:rPr lang="en-US" sz="3300"/>
              <a:t>Similar method: Cognitive walkthrough</a:t>
            </a:r>
          </a:p>
        </p:txBody>
      </p:sp>
      <p:sp>
        <p:nvSpPr>
          <p:cNvPr id="3" name="Content Placeholder 2">
            <a:extLst>
              <a:ext uri="{FF2B5EF4-FFF2-40B4-BE49-F238E27FC236}">
                <a16:creationId xmlns:a16="http://schemas.microsoft.com/office/drawing/2014/main" id="{34FAE5C0-C8FE-1B4C-BE69-6C9D488AB54F}"/>
              </a:ext>
            </a:extLst>
          </p:cNvPr>
          <p:cNvSpPr>
            <a:spLocks noGrp="1"/>
          </p:cNvSpPr>
          <p:nvPr>
            <p:ph idx="1"/>
          </p:nvPr>
        </p:nvSpPr>
        <p:spPr/>
        <p:txBody>
          <a:bodyPr/>
          <a:lstStyle/>
          <a:p>
            <a:r>
              <a:rPr lang="en-US"/>
              <a:t>Usability method conducted by designers and usability experts</a:t>
            </a:r>
          </a:p>
          <a:p>
            <a:r>
              <a:rPr lang="en-US"/>
              <a:t>Tester takes the role of a typical user and completes tasks (similar to a user test)</a:t>
            </a:r>
          </a:p>
          <a:p>
            <a:r>
              <a:rPr lang="en-US"/>
              <a:t>At each step, write down:</a:t>
            </a:r>
          </a:p>
          <a:p>
            <a:pPr lvl="1"/>
            <a:r>
              <a:rPr lang="en-US"/>
              <a:t>What is my goal at this step?</a:t>
            </a:r>
          </a:p>
          <a:p>
            <a:pPr lvl="1"/>
            <a:r>
              <a:rPr lang="en-US"/>
              <a:t>What decisions might the user make?</a:t>
            </a:r>
          </a:p>
          <a:p>
            <a:pPr lvl="1"/>
            <a:r>
              <a:rPr lang="en-US"/>
              <a:t>How will my goals change?</a:t>
            </a:r>
          </a:p>
        </p:txBody>
      </p:sp>
    </p:spTree>
    <p:extLst>
      <p:ext uri="{BB962C8B-B14F-4D97-AF65-F5344CB8AC3E}">
        <p14:creationId xmlns:p14="http://schemas.microsoft.com/office/powerpoint/2010/main" val="28975652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Next time</a:t>
            </a:r>
          </a:p>
        </p:txBody>
      </p:sp>
      <p:sp>
        <p:nvSpPr>
          <p:cNvPr id="3" name="Content Placeholder 2"/>
          <p:cNvSpPr>
            <a:spLocks noGrp="1"/>
          </p:cNvSpPr>
          <p:nvPr>
            <p:ph idx="1"/>
          </p:nvPr>
        </p:nvSpPr>
        <p:spPr/>
        <p:txBody>
          <a:bodyPr/>
          <a:lstStyle/>
          <a:p>
            <a:r>
              <a:rPr lang="en-US" dirty="0"/>
              <a:t>More on the “rules” of usability</a:t>
            </a:r>
          </a:p>
          <a:p>
            <a:r>
              <a:rPr lang="en-US" dirty="0"/>
              <a:t>Understanding usability as a cognitive process</a:t>
            </a:r>
          </a:p>
        </p:txBody>
      </p:sp>
    </p:spTree>
    <p:extLst>
      <p:ext uri="{BB962C8B-B14F-4D97-AF65-F5344CB8AC3E}">
        <p14:creationId xmlns:p14="http://schemas.microsoft.com/office/powerpoint/2010/main" val="712654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a:latin typeface="Helvetica Neue" panose="02000503000000020004" pitchFamily="2" charset="0"/>
                <a:ea typeface="Helvetica Neue" panose="02000503000000020004" pitchFamily="2" charset="0"/>
                <a:cs typeface="Helvetica Neue" panose="02000503000000020004" pitchFamily="2" charset="0"/>
              </a:rPr>
              <a:t>Bonus: Emotions in design</a:t>
            </a:r>
          </a:p>
        </p:txBody>
      </p:sp>
    </p:spTree>
    <p:extLst>
      <p:ext uri="{BB962C8B-B14F-4D97-AF65-F5344CB8AC3E}">
        <p14:creationId xmlns:p14="http://schemas.microsoft.com/office/powerpoint/2010/main" val="12222555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Emotional Design </a:t>
            </a:r>
            <a:r>
              <a:rPr lang="en-US" sz="2700" dirty="0"/>
              <a:t>(Norman, 2004)</a:t>
            </a:r>
          </a:p>
        </p:txBody>
      </p:sp>
      <p:sp>
        <p:nvSpPr>
          <p:cNvPr id="3" name="Content Placeholder 2"/>
          <p:cNvSpPr>
            <a:spLocks noGrp="1"/>
          </p:cNvSpPr>
          <p:nvPr>
            <p:ph idx="1"/>
          </p:nvPr>
        </p:nvSpPr>
        <p:spPr/>
        <p:txBody>
          <a:bodyPr/>
          <a:lstStyle/>
          <a:p>
            <a:r>
              <a:rPr lang="en-US" dirty="0"/>
              <a:t>Three levels of design</a:t>
            </a:r>
          </a:p>
          <a:p>
            <a:pPr lvl="1"/>
            <a:r>
              <a:rPr lang="en-US" b="1" dirty="0">
                <a:solidFill>
                  <a:schemeClr val="bg1">
                    <a:lumMod val="50000"/>
                    <a:lumOff val="50000"/>
                  </a:schemeClr>
                </a:solidFill>
              </a:rPr>
              <a:t>Visceral</a:t>
            </a:r>
            <a:r>
              <a:rPr lang="en-US" dirty="0">
                <a:solidFill>
                  <a:schemeClr val="bg1">
                    <a:lumMod val="50000"/>
                    <a:lumOff val="50000"/>
                  </a:schemeClr>
                </a:solidFill>
              </a:rPr>
              <a:t> – raw emotional/physical experience</a:t>
            </a:r>
          </a:p>
          <a:p>
            <a:pPr lvl="1"/>
            <a:r>
              <a:rPr lang="en-US" b="1" dirty="0">
                <a:solidFill>
                  <a:srgbClr val="92D050"/>
                </a:solidFill>
              </a:rPr>
              <a:t>Behavioral</a:t>
            </a:r>
            <a:r>
              <a:rPr lang="en-US" dirty="0"/>
              <a:t> – does it work the way I expect?</a:t>
            </a:r>
          </a:p>
          <a:p>
            <a:pPr lvl="1"/>
            <a:r>
              <a:rPr lang="en-US" b="1" dirty="0">
                <a:solidFill>
                  <a:schemeClr val="bg1">
                    <a:lumMod val="50000"/>
                    <a:lumOff val="50000"/>
                  </a:schemeClr>
                </a:solidFill>
              </a:rPr>
              <a:t>Reflective</a:t>
            </a:r>
            <a:r>
              <a:rPr lang="en-US" dirty="0">
                <a:solidFill>
                  <a:schemeClr val="bg1">
                    <a:lumMod val="50000"/>
                    <a:lumOff val="50000"/>
                  </a:schemeClr>
                </a:solidFill>
              </a:rPr>
              <a:t> – how does using this affect my perception of myself, life, the universe, everything?</a:t>
            </a:r>
          </a:p>
        </p:txBody>
      </p:sp>
    </p:spTree>
    <p:extLst>
      <p:ext uri="{BB962C8B-B14F-4D97-AF65-F5344CB8AC3E}">
        <p14:creationId xmlns:p14="http://schemas.microsoft.com/office/powerpoint/2010/main" val="3773825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Emotional Design </a:t>
            </a:r>
            <a:r>
              <a:rPr lang="en-US" sz="2700" dirty="0"/>
              <a:t>(Norman, 2004)</a:t>
            </a:r>
          </a:p>
        </p:txBody>
      </p:sp>
      <p:sp>
        <p:nvSpPr>
          <p:cNvPr id="3" name="Content Placeholder 2"/>
          <p:cNvSpPr>
            <a:spLocks noGrp="1"/>
          </p:cNvSpPr>
          <p:nvPr>
            <p:ph idx="1"/>
          </p:nvPr>
        </p:nvSpPr>
        <p:spPr/>
        <p:txBody>
          <a:bodyPr/>
          <a:lstStyle/>
          <a:p>
            <a:r>
              <a:rPr lang="en-US" dirty="0"/>
              <a:t>Three levels of design</a:t>
            </a:r>
          </a:p>
          <a:p>
            <a:pPr lvl="1"/>
            <a:r>
              <a:rPr lang="en-US" b="1" dirty="0"/>
              <a:t>Visceral</a:t>
            </a:r>
            <a:r>
              <a:rPr lang="en-US" dirty="0"/>
              <a:t> – raw emotional/physical experience</a:t>
            </a:r>
          </a:p>
          <a:p>
            <a:pPr lvl="1"/>
            <a:r>
              <a:rPr lang="en-US" b="1" dirty="0"/>
              <a:t>Behavioral</a:t>
            </a:r>
            <a:r>
              <a:rPr lang="en-US" dirty="0"/>
              <a:t> – does it work the way I expect?</a:t>
            </a:r>
          </a:p>
          <a:p>
            <a:pPr lvl="1"/>
            <a:r>
              <a:rPr lang="en-US" b="1" dirty="0"/>
              <a:t>Reflective</a:t>
            </a:r>
            <a:r>
              <a:rPr lang="en-US" dirty="0"/>
              <a:t> – how does using this affect my perception of myself, life, the universe, everything?</a:t>
            </a:r>
          </a:p>
        </p:txBody>
      </p:sp>
    </p:spTree>
    <p:extLst>
      <p:ext uri="{BB962C8B-B14F-4D97-AF65-F5344CB8AC3E}">
        <p14:creationId xmlns:p14="http://schemas.microsoft.com/office/powerpoint/2010/main" val="16517650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FFFF"/>
                </a:solidFill>
              </a:rPr>
              <a:t>Playfulness and fun</a:t>
            </a:r>
          </a:p>
        </p:txBody>
      </p:sp>
      <p:pic>
        <p:nvPicPr>
          <p:cNvPr id="4" name="Picture 3"/>
          <p:cNvPicPr>
            <a:picLocks noChangeAspect="1"/>
          </p:cNvPicPr>
          <p:nvPr/>
        </p:nvPicPr>
        <p:blipFill rotWithShape="1">
          <a:blip r:embed="rId2"/>
          <a:srcRect r="3294"/>
          <a:stretch/>
        </p:blipFill>
        <p:spPr>
          <a:xfrm>
            <a:off x="4067171" y="1588865"/>
            <a:ext cx="5076829" cy="4821812"/>
          </a:xfrm>
          <a:prstGeom prst="rect">
            <a:avLst/>
          </a:prstGeom>
        </p:spPr>
      </p:pic>
      <p:pic>
        <p:nvPicPr>
          <p:cNvPr id="5" name="Picture 4"/>
          <p:cNvPicPr>
            <a:picLocks noChangeAspect="1"/>
          </p:cNvPicPr>
          <p:nvPr/>
        </p:nvPicPr>
        <p:blipFill>
          <a:blip r:embed="rId3"/>
          <a:stretch>
            <a:fillRect/>
          </a:stretch>
        </p:blipFill>
        <p:spPr>
          <a:xfrm>
            <a:off x="291324" y="1712271"/>
            <a:ext cx="3838339" cy="3838339"/>
          </a:xfrm>
          <a:prstGeom prst="rect">
            <a:avLst/>
          </a:prstGeom>
        </p:spPr>
      </p:pic>
      <p:sp>
        <p:nvSpPr>
          <p:cNvPr id="6" name="TextBox 5"/>
          <p:cNvSpPr txBox="1"/>
          <p:nvPr/>
        </p:nvSpPr>
        <p:spPr>
          <a:xfrm>
            <a:off x="1056038" y="5765474"/>
            <a:ext cx="1854932" cy="369332"/>
          </a:xfrm>
          <a:prstGeom prst="rect">
            <a:avLst/>
          </a:prstGeom>
          <a:noFill/>
        </p:spPr>
        <p:txBody>
          <a:bodyPr wrap="none" rtlCol="0">
            <a:spAutoFit/>
          </a:bodyPr>
          <a:lstStyle/>
          <a:p>
            <a:r>
              <a:rPr lang="en-US" dirty="0" err="1">
                <a:solidFill>
                  <a:srgbClr val="FFFFFF"/>
                </a:solidFill>
              </a:rPr>
              <a:t>Alessi</a:t>
            </a:r>
            <a:r>
              <a:rPr lang="en-US" dirty="0">
                <a:solidFill>
                  <a:srgbClr val="FFFFFF"/>
                </a:solidFill>
              </a:rPr>
              <a:t> tea strainer</a:t>
            </a:r>
          </a:p>
        </p:txBody>
      </p:sp>
    </p:spTree>
    <p:extLst>
      <p:ext uri="{BB962C8B-B14F-4D97-AF65-F5344CB8AC3E}">
        <p14:creationId xmlns:p14="http://schemas.microsoft.com/office/powerpoint/2010/main" val="35061085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FFFF"/>
                </a:solidFill>
              </a:rPr>
              <a:t>Technology with personality</a:t>
            </a:r>
          </a:p>
        </p:txBody>
      </p:sp>
      <p:sp>
        <p:nvSpPr>
          <p:cNvPr id="3" name="Content Placeholder 2"/>
          <p:cNvSpPr>
            <a:spLocks noGrp="1"/>
          </p:cNvSpPr>
          <p:nvPr>
            <p:ph idx="1"/>
          </p:nvPr>
        </p:nvSpPr>
        <p:spPr>
          <a:xfrm>
            <a:off x="457200" y="1600200"/>
            <a:ext cx="5831891" cy="4525963"/>
          </a:xfrm>
        </p:spPr>
        <p:txBody>
          <a:bodyPr>
            <a:normAutofit fontScale="92500" lnSpcReduction="20000"/>
          </a:bodyPr>
          <a:lstStyle/>
          <a:p>
            <a:r>
              <a:rPr lang="en-US" sz="2200" dirty="0">
                <a:solidFill>
                  <a:srgbClr val="FFFFFF"/>
                </a:solidFill>
              </a:rPr>
              <a:t>BJ </a:t>
            </a:r>
            <a:r>
              <a:rPr lang="en-US" sz="2200" dirty="0" err="1">
                <a:solidFill>
                  <a:srgbClr val="FFFFFF"/>
                </a:solidFill>
              </a:rPr>
              <a:t>Fogg</a:t>
            </a:r>
            <a:r>
              <a:rPr lang="en-US" sz="2200" dirty="0">
                <a:solidFill>
                  <a:srgbClr val="FFFFFF"/>
                </a:solidFill>
              </a:rPr>
              <a:t>, “computers as social actors”</a:t>
            </a:r>
          </a:p>
          <a:p>
            <a:endParaRPr lang="en-US" sz="2200" dirty="0">
              <a:solidFill>
                <a:srgbClr val="FFFFFF"/>
              </a:solidFill>
            </a:endParaRPr>
          </a:p>
          <a:p>
            <a:r>
              <a:rPr lang="en-US" sz="2200" b="1" dirty="0">
                <a:solidFill>
                  <a:srgbClr val="FFFFFF"/>
                </a:solidFill>
              </a:rPr>
              <a:t>Physical: </a:t>
            </a:r>
            <a:r>
              <a:rPr lang="en-US" sz="2200" dirty="0">
                <a:solidFill>
                  <a:srgbClr val="FFFFFF"/>
                </a:solidFill>
              </a:rPr>
              <a:t>Face, eyes, body, movement</a:t>
            </a:r>
          </a:p>
          <a:p>
            <a:r>
              <a:rPr lang="en-US" sz="2200" b="1" dirty="0">
                <a:solidFill>
                  <a:srgbClr val="FFFFFF"/>
                </a:solidFill>
              </a:rPr>
              <a:t>Psychological: </a:t>
            </a:r>
            <a:r>
              <a:rPr lang="en-US" sz="2200" dirty="0">
                <a:solidFill>
                  <a:srgbClr val="FFFFFF"/>
                </a:solidFill>
              </a:rPr>
              <a:t>Preferences, humor, personality, feelings, empathy, "I'm sorry" </a:t>
            </a:r>
          </a:p>
          <a:p>
            <a:r>
              <a:rPr lang="en-US" sz="2200" b="1" dirty="0">
                <a:solidFill>
                  <a:srgbClr val="FFFFFF"/>
                </a:solidFill>
              </a:rPr>
              <a:t>Language: </a:t>
            </a:r>
            <a:r>
              <a:rPr lang="en-US" sz="2200" dirty="0">
                <a:solidFill>
                  <a:srgbClr val="FFFFFF"/>
                </a:solidFill>
              </a:rPr>
              <a:t>Interactive language use, spoken language, language recognition </a:t>
            </a:r>
          </a:p>
          <a:p>
            <a:r>
              <a:rPr lang="en-US" sz="2200" b="1" dirty="0">
                <a:solidFill>
                  <a:srgbClr val="FFFFFF"/>
                </a:solidFill>
              </a:rPr>
              <a:t>Social Dynamics: </a:t>
            </a:r>
            <a:r>
              <a:rPr lang="en-US" sz="2200" dirty="0">
                <a:solidFill>
                  <a:srgbClr val="FFFFFF"/>
                </a:solidFill>
              </a:rPr>
              <a:t>Turn taking, cooperation, praise for good work, answering questions, reciprocity </a:t>
            </a:r>
          </a:p>
          <a:p>
            <a:r>
              <a:rPr lang="en-US" sz="2200" b="1" dirty="0">
                <a:solidFill>
                  <a:srgbClr val="FFFFFF"/>
                </a:solidFill>
              </a:rPr>
              <a:t>Social Roles: </a:t>
            </a:r>
            <a:r>
              <a:rPr lang="en-US" sz="2200" dirty="0">
                <a:solidFill>
                  <a:srgbClr val="FFFFFF"/>
                </a:solidFill>
              </a:rPr>
              <a:t>Doctor, teammate, opponent, teacher, pet, guide </a:t>
            </a:r>
          </a:p>
        </p:txBody>
      </p:sp>
      <p:pic>
        <p:nvPicPr>
          <p:cNvPr id="5" name="Picture 4"/>
          <p:cNvPicPr>
            <a:picLocks noChangeAspect="1"/>
          </p:cNvPicPr>
          <p:nvPr/>
        </p:nvPicPr>
        <p:blipFill>
          <a:blip r:embed="rId2"/>
          <a:stretch>
            <a:fillRect/>
          </a:stretch>
        </p:blipFill>
        <p:spPr>
          <a:xfrm>
            <a:off x="6426312" y="1284203"/>
            <a:ext cx="2717688" cy="2625481"/>
          </a:xfrm>
          <a:prstGeom prst="rect">
            <a:avLst/>
          </a:prstGeom>
        </p:spPr>
      </p:pic>
      <p:pic>
        <p:nvPicPr>
          <p:cNvPr id="6" name="Picture 5"/>
          <p:cNvPicPr>
            <a:picLocks noChangeAspect="1"/>
          </p:cNvPicPr>
          <p:nvPr/>
        </p:nvPicPr>
        <p:blipFill rotWithShape="1">
          <a:blip r:embed="rId3"/>
          <a:srcRect t="18042" r="45845" b="-15073"/>
          <a:stretch/>
        </p:blipFill>
        <p:spPr>
          <a:xfrm>
            <a:off x="6289091" y="3909684"/>
            <a:ext cx="2854909" cy="2939062"/>
          </a:xfrm>
          <a:prstGeom prst="rect">
            <a:avLst/>
          </a:prstGeom>
        </p:spPr>
      </p:pic>
    </p:spTree>
    <p:extLst>
      <p:ext uri="{BB962C8B-B14F-4D97-AF65-F5344CB8AC3E}">
        <p14:creationId xmlns:p14="http://schemas.microsoft.com/office/powerpoint/2010/main" val="26432541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Other aspects of design</a:t>
            </a:r>
          </a:p>
        </p:txBody>
      </p:sp>
      <p:sp>
        <p:nvSpPr>
          <p:cNvPr id="3" name="Content Placeholder 2"/>
          <p:cNvSpPr>
            <a:spLocks noGrp="1"/>
          </p:cNvSpPr>
          <p:nvPr>
            <p:ph idx="1"/>
          </p:nvPr>
        </p:nvSpPr>
        <p:spPr/>
        <p:txBody>
          <a:bodyPr/>
          <a:lstStyle/>
          <a:p>
            <a:r>
              <a:rPr lang="en-US" dirty="0"/>
              <a:t>Ergonomics / human factors</a:t>
            </a:r>
          </a:p>
          <a:p>
            <a:r>
              <a:rPr lang="en-US" dirty="0"/>
              <a:t>Accessibility / universal design</a:t>
            </a:r>
          </a:p>
        </p:txBody>
      </p:sp>
    </p:spTree>
    <p:extLst>
      <p:ext uri="{BB962C8B-B14F-4D97-AF65-F5344CB8AC3E}">
        <p14:creationId xmlns:p14="http://schemas.microsoft.com/office/powerpoint/2010/main" val="8431817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What else do we need to know?</a:t>
            </a:r>
          </a:p>
        </p:txBody>
      </p:sp>
      <p:sp>
        <p:nvSpPr>
          <p:cNvPr id="3" name="Content Placeholder 2"/>
          <p:cNvSpPr>
            <a:spLocks noGrp="1"/>
          </p:cNvSpPr>
          <p:nvPr>
            <p:ph idx="1"/>
          </p:nvPr>
        </p:nvSpPr>
        <p:spPr/>
        <p:txBody>
          <a:bodyPr>
            <a:normAutofit fontScale="85000" lnSpcReduction="20000"/>
          </a:bodyPr>
          <a:lstStyle/>
          <a:p>
            <a:r>
              <a:rPr lang="en-US" dirty="0"/>
              <a:t>Guidelines/heuristics on good design</a:t>
            </a:r>
          </a:p>
          <a:p>
            <a:pPr lvl="1"/>
            <a:r>
              <a:rPr lang="en-US" dirty="0"/>
              <a:t>Next week (usability heuristics and heuristic evaluation)</a:t>
            </a:r>
          </a:p>
          <a:p>
            <a:pPr lvl="1"/>
            <a:endParaRPr lang="en-US" dirty="0"/>
          </a:p>
          <a:p>
            <a:r>
              <a:rPr lang="en-US" dirty="0"/>
              <a:t>Standards</a:t>
            </a:r>
          </a:p>
          <a:p>
            <a:pPr lvl="1"/>
            <a:r>
              <a:rPr lang="en-US" dirty="0"/>
              <a:t>“When should buttons be on the top or the bottom of the screen?”</a:t>
            </a:r>
          </a:p>
          <a:p>
            <a:pPr lvl="1"/>
            <a:r>
              <a:rPr lang="en-US" dirty="0"/>
              <a:t>Example: Apple Human Interface Guidelines</a:t>
            </a:r>
          </a:p>
          <a:p>
            <a:pPr lvl="1"/>
            <a:endParaRPr lang="en-US" dirty="0"/>
          </a:p>
          <a:p>
            <a:r>
              <a:rPr lang="en-US" dirty="0"/>
              <a:t>User interface controls/toolkits</a:t>
            </a:r>
          </a:p>
          <a:p>
            <a:pPr lvl="1"/>
            <a:r>
              <a:rPr lang="en-US" dirty="0"/>
              <a:t>Example: Twitter Bootstrap, </a:t>
            </a:r>
            <a:r>
              <a:rPr lang="en-US" dirty="0" err="1"/>
              <a:t>iOS</a:t>
            </a:r>
            <a:r>
              <a:rPr lang="en-US" dirty="0"/>
              <a:t> controls</a:t>
            </a:r>
          </a:p>
          <a:p>
            <a:pPr lvl="1"/>
            <a:endParaRPr lang="en-US" dirty="0"/>
          </a:p>
        </p:txBody>
      </p:sp>
    </p:spTree>
    <p:extLst>
      <p:ext uri="{BB962C8B-B14F-4D97-AF65-F5344CB8AC3E}">
        <p14:creationId xmlns:p14="http://schemas.microsoft.com/office/powerpoint/2010/main" val="20504489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Activity 2</a:t>
            </a:r>
          </a:p>
        </p:txBody>
      </p:sp>
      <p:sp>
        <p:nvSpPr>
          <p:cNvPr id="3" name="Content Placeholder 2"/>
          <p:cNvSpPr>
            <a:spLocks noGrp="1"/>
          </p:cNvSpPr>
          <p:nvPr>
            <p:ph idx="1"/>
          </p:nvPr>
        </p:nvSpPr>
        <p:spPr>
          <a:xfrm>
            <a:off x="457200" y="1600200"/>
            <a:ext cx="8229600" cy="4986130"/>
          </a:xfrm>
        </p:spPr>
        <p:txBody>
          <a:bodyPr>
            <a:normAutofit fontScale="92500" lnSpcReduction="20000"/>
          </a:bodyPr>
          <a:lstStyle/>
          <a:p>
            <a:r>
              <a:rPr lang="en-US" dirty="0"/>
              <a:t>Pair up with 1-2 partners</a:t>
            </a:r>
          </a:p>
          <a:p>
            <a:r>
              <a:rPr lang="en-US" dirty="0"/>
              <a:t>Goal: we are designing a set of gesture-controlled wireless headphones</a:t>
            </a:r>
          </a:p>
          <a:p>
            <a:pPr lvl="1"/>
            <a:r>
              <a:rPr lang="en-US" dirty="0"/>
              <a:t>What functions should it support? (try to come up with some interesting ones)</a:t>
            </a:r>
          </a:p>
          <a:p>
            <a:pPr lvl="1"/>
            <a:r>
              <a:rPr lang="en-US" dirty="0"/>
              <a:t>Design a set of interactions for controlling them – you can add gestures, add buttons, etc.</a:t>
            </a:r>
          </a:p>
          <a:p>
            <a:pPr lvl="1"/>
            <a:r>
              <a:rPr lang="en-US" dirty="0"/>
              <a:t>How can mappings, affordances and constraints help?</a:t>
            </a:r>
          </a:p>
          <a:p>
            <a:pPr lvl="1"/>
            <a:r>
              <a:rPr lang="en-US" dirty="0"/>
              <a:t>How can you give feedback?</a:t>
            </a:r>
          </a:p>
          <a:p>
            <a:r>
              <a:rPr lang="en-US" dirty="0"/>
              <a:t>You’ll act out a scenario where the user interacts with the device (and describe it, or sketch)</a:t>
            </a:r>
          </a:p>
          <a:p>
            <a:endParaRPr lang="en-US" dirty="0"/>
          </a:p>
        </p:txBody>
      </p:sp>
    </p:spTree>
    <p:extLst>
      <p:ext uri="{BB962C8B-B14F-4D97-AF65-F5344CB8AC3E}">
        <p14:creationId xmlns:p14="http://schemas.microsoft.com/office/powerpoint/2010/main" val="5889493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58218-5A0C-264B-BCB3-3C60412647FA}"/>
              </a:ext>
            </a:extLst>
          </p:cNvPr>
          <p:cNvSpPr>
            <a:spLocks noGrp="1"/>
          </p:cNvSpPr>
          <p:nvPr>
            <p:ph type="title"/>
          </p:nvPr>
        </p:nvSpPr>
        <p:spPr/>
        <p:txBody>
          <a:bodyPr/>
          <a:lstStyle/>
          <a:p>
            <a:r>
              <a:rPr lang="en-US"/>
              <a:t>Activity 3</a:t>
            </a:r>
          </a:p>
        </p:txBody>
      </p:sp>
      <p:sp>
        <p:nvSpPr>
          <p:cNvPr id="3" name="Content Placeholder 2">
            <a:extLst>
              <a:ext uri="{FF2B5EF4-FFF2-40B4-BE49-F238E27FC236}">
                <a16:creationId xmlns:a16="http://schemas.microsoft.com/office/drawing/2014/main" id="{8A599EBD-3B20-F545-88F8-0D43068DA74C}"/>
              </a:ext>
            </a:extLst>
          </p:cNvPr>
          <p:cNvSpPr>
            <a:spLocks noGrp="1"/>
          </p:cNvSpPr>
          <p:nvPr>
            <p:ph idx="1"/>
          </p:nvPr>
        </p:nvSpPr>
        <p:spPr>
          <a:xfrm>
            <a:off x="457200" y="1600200"/>
            <a:ext cx="8229600" cy="5115910"/>
          </a:xfrm>
        </p:spPr>
        <p:txBody>
          <a:bodyPr>
            <a:normAutofit/>
          </a:bodyPr>
          <a:lstStyle/>
          <a:p>
            <a:r>
              <a:rPr lang="en-US"/>
              <a:t>Pair up with 1-2 people</a:t>
            </a:r>
          </a:p>
          <a:p>
            <a:r>
              <a:rPr lang="en-US"/>
              <a:t>Consider Alexa</a:t>
            </a:r>
          </a:p>
          <a:p>
            <a:r>
              <a:rPr lang="en-US"/>
              <a:t>Evaluate with respect to:</a:t>
            </a:r>
          </a:p>
          <a:p>
            <a:pPr lvl="1"/>
            <a:r>
              <a:rPr lang="en-US"/>
              <a:t>Affordances</a:t>
            </a:r>
          </a:p>
          <a:p>
            <a:pPr lvl="1"/>
            <a:r>
              <a:rPr lang="en-US"/>
              <a:t>Constraints</a:t>
            </a:r>
          </a:p>
          <a:p>
            <a:pPr lvl="1"/>
            <a:r>
              <a:rPr lang="en-US"/>
              <a:t>Feedback</a:t>
            </a:r>
          </a:p>
          <a:p>
            <a:pPr lvl="1"/>
            <a:r>
              <a:rPr lang="en-US"/>
              <a:t>Mapping</a:t>
            </a:r>
          </a:p>
          <a:p>
            <a:pPr lvl="1"/>
            <a:r>
              <a:rPr lang="en-US"/>
              <a:t>Gulf of execution</a:t>
            </a:r>
          </a:p>
          <a:p>
            <a:pPr lvl="1"/>
            <a:r>
              <a:rPr lang="en-US"/>
              <a:t>Gulf of evaluation</a:t>
            </a:r>
          </a:p>
          <a:p>
            <a:endParaRPr lang="en-US"/>
          </a:p>
        </p:txBody>
      </p:sp>
      <p:pic>
        <p:nvPicPr>
          <p:cNvPr id="4" name="Picture 3">
            <a:extLst>
              <a:ext uri="{FF2B5EF4-FFF2-40B4-BE49-F238E27FC236}">
                <a16:creationId xmlns:a16="http://schemas.microsoft.com/office/drawing/2014/main" id="{33218206-DE5E-D148-8070-9D691136E459}"/>
              </a:ext>
            </a:extLst>
          </p:cNvPr>
          <p:cNvPicPr>
            <a:picLocks noChangeAspect="1"/>
          </p:cNvPicPr>
          <p:nvPr/>
        </p:nvPicPr>
        <p:blipFill>
          <a:blip r:embed="rId2"/>
          <a:stretch>
            <a:fillRect/>
          </a:stretch>
        </p:blipFill>
        <p:spPr>
          <a:xfrm>
            <a:off x="6117677" y="1417638"/>
            <a:ext cx="2857500" cy="2857500"/>
          </a:xfrm>
          <a:prstGeom prst="rect">
            <a:avLst/>
          </a:prstGeom>
        </p:spPr>
      </p:pic>
    </p:spTree>
    <p:extLst>
      <p:ext uri="{BB962C8B-B14F-4D97-AF65-F5344CB8AC3E}">
        <p14:creationId xmlns:p14="http://schemas.microsoft.com/office/powerpoint/2010/main" val="3505519180"/>
      </p:ext>
    </p:extLst>
  </p:cSld>
  <p:clrMapOvr>
    <a:masterClrMapping/>
  </p:clrMapOvr>
</p:sld>
</file>

<file path=ppt/theme/theme1.xml><?xml version="1.0" encoding="utf-8"?>
<a:theme xmlns:a="http://schemas.openxmlformats.org/drawingml/2006/main" name="Black">
  <a:themeElements>
    <a:clrScheme name="Custom 13">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96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1-intro</Template>
  <TotalTime>2068</TotalTime>
  <Words>1651</Words>
  <Application>Microsoft Macintosh PowerPoint</Application>
  <PresentationFormat>On-screen Show (4:3)</PresentationFormat>
  <Paragraphs>257</Paragraphs>
  <Slides>39</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39</vt:i4>
      </vt:variant>
    </vt:vector>
  </HeadingPairs>
  <TitlesOfParts>
    <vt:vector size="43" baseType="lpstr">
      <vt:lpstr>Arial</vt:lpstr>
      <vt:lpstr>Calibri</vt:lpstr>
      <vt:lpstr>Helvetica Neue</vt:lpstr>
      <vt:lpstr>Black</vt:lpstr>
      <vt:lpstr>Clicker Q 1</vt:lpstr>
      <vt:lpstr>Heuristic evaluation CSCI 3002 Fall 2019</vt:lpstr>
      <vt:lpstr>How we evaluate our designs</vt:lpstr>
      <vt:lpstr>“Discount” user testing</vt:lpstr>
      <vt:lpstr>Heuristic evaluation</vt:lpstr>
      <vt:lpstr>What’s a heuristic?</vt:lpstr>
      <vt:lpstr>What’s a heuristic?</vt:lpstr>
      <vt:lpstr>Heuristics</vt:lpstr>
      <vt:lpstr>Heuristics</vt:lpstr>
      <vt:lpstr>How to conduct a heuristic evaluation</vt:lpstr>
      <vt:lpstr>HE Demo</vt:lpstr>
      <vt:lpstr>After the evaluation</vt:lpstr>
      <vt:lpstr>HEs: When &amp; Who</vt:lpstr>
      <vt:lpstr>HE vs. user testing</vt:lpstr>
      <vt:lpstr>Which heuristics to use?</vt:lpstr>
      <vt:lpstr>PowerPoint Presentation</vt:lpstr>
      <vt:lpstr>Record the problem</vt:lpstr>
      <vt:lpstr>Nielsen’s Severity Ratings</vt:lpstr>
      <vt:lpstr>PowerPoint Presentation</vt:lpstr>
      <vt:lpstr>Keep looking for problems!</vt:lpstr>
      <vt:lpstr>Custom heuristics</vt:lpstr>
      <vt:lpstr>Example of custom heuristics</vt:lpstr>
      <vt:lpstr>New heuristics for ambient displays</vt:lpstr>
      <vt:lpstr>What makes a good X?</vt:lpstr>
      <vt:lpstr>Brainstorming heuristics</vt:lpstr>
      <vt:lpstr>Our AR app heuristics</vt:lpstr>
      <vt:lpstr>Heuristics are not just for evaluation</vt:lpstr>
      <vt:lpstr>Using heuristic evaluations</vt:lpstr>
      <vt:lpstr>Similar method: Cognitive walkthrough</vt:lpstr>
      <vt:lpstr>Next time</vt:lpstr>
      <vt:lpstr>Bonus: Emotions in design</vt:lpstr>
      <vt:lpstr>Emotional Design (Norman, 2004)</vt:lpstr>
      <vt:lpstr>Emotional Design (Norman, 2004)</vt:lpstr>
      <vt:lpstr>Playfulness and fun</vt:lpstr>
      <vt:lpstr>Technology with personality</vt:lpstr>
      <vt:lpstr>Other aspects of design</vt:lpstr>
      <vt:lpstr>What else do we need to know?</vt:lpstr>
      <vt:lpstr>Activity 2</vt:lpstr>
      <vt:lpstr>Activity 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Think aloud </dc:title>
  <dc:creator>Shaun Kane</dc:creator>
  <cp:lastModifiedBy>Shaun Kane</cp:lastModifiedBy>
  <cp:revision>467</cp:revision>
  <dcterms:created xsi:type="dcterms:W3CDTF">2014-10-16T19:05:29Z</dcterms:created>
  <dcterms:modified xsi:type="dcterms:W3CDTF">2019-10-22T18:14:38Z</dcterms:modified>
</cp:coreProperties>
</file>