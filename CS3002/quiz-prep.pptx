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28"/>
  </p:notesMasterIdLst>
  <p:sldIdLst>
    <p:sldId id="1057" r:id="rId2"/>
    <p:sldId id="1082" r:id="rId3"/>
    <p:sldId id="1058" r:id="rId4"/>
    <p:sldId id="1059" r:id="rId5"/>
    <p:sldId id="1060" r:id="rId6"/>
    <p:sldId id="1061" r:id="rId7"/>
    <p:sldId id="1062" r:id="rId8"/>
    <p:sldId id="1064" r:id="rId9"/>
    <p:sldId id="1066" r:id="rId10"/>
    <p:sldId id="1065" r:id="rId11"/>
    <p:sldId id="1067" r:id="rId12"/>
    <p:sldId id="1068" r:id="rId13"/>
    <p:sldId id="1069" r:id="rId14"/>
    <p:sldId id="1070" r:id="rId15"/>
    <p:sldId id="1071" r:id="rId16"/>
    <p:sldId id="1072" r:id="rId17"/>
    <p:sldId id="1073" r:id="rId18"/>
    <p:sldId id="1074" r:id="rId19"/>
    <p:sldId id="1075" r:id="rId20"/>
    <p:sldId id="1076" r:id="rId21"/>
    <p:sldId id="1078" r:id="rId22"/>
    <p:sldId id="1077" r:id="rId23"/>
    <p:sldId id="1079" r:id="rId24"/>
    <p:sldId id="1080" r:id="rId25"/>
    <p:sldId id="1081" r:id="rId26"/>
    <p:sldId id="1063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D4E0"/>
    <a:srgbClr val="931A17"/>
    <a:srgbClr val="9EDDF7"/>
    <a:srgbClr val="D8E4F7"/>
    <a:srgbClr val="E042C4"/>
    <a:srgbClr val="9EE08B"/>
    <a:srgbClr val="E0D21F"/>
    <a:srgbClr val="779355"/>
    <a:srgbClr val="82E0DB"/>
    <a:srgbClr val="936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/>
    <p:restoredTop sz="94269"/>
  </p:normalViewPr>
  <p:slideViewPr>
    <p:cSldViewPr snapToGrid="0" snapToObjects="1">
      <p:cViewPr varScale="1">
        <p:scale>
          <a:sx n="169" d="100"/>
          <a:sy n="169" d="100"/>
        </p:scale>
        <p:origin x="24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DF1B9D-1594-6349-9CDA-D830B4E3E04A}" type="datetimeFigureOut">
              <a:rPr lang="en-US" smtClean="0"/>
              <a:t>10/8/19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CC54C-4FAE-9040-9F1E-7CB873F8A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85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CC54C-4FAE-9040-9F1E-7CB873F8A1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11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41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31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81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38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09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20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28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16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52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44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06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01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11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51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00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271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6381D-D8CE-1540-8682-86853DC2F7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62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3541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64435"/>
          </a:xfrm>
        </p:spPr>
        <p:txBody>
          <a:bodyPr/>
          <a:lstStyle>
            <a:lvl1pPr>
              <a:defRPr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6421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75915"/>
          </a:xfrm>
        </p:spPr>
        <p:txBody>
          <a:bodyPr/>
          <a:lstStyle>
            <a:lvl1pPr>
              <a:defRPr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672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Bef>
                <a:spcPts val="2400"/>
              </a:spcBef>
              <a:spcAft>
                <a:spcPts val="0"/>
              </a:spcAft>
              <a:defRPr sz="2800">
                <a:latin typeface="Helvetica Neue" charset="0"/>
                <a:ea typeface="Helvetica Neue" charset="0"/>
                <a:cs typeface="Helvetica Neue" charset="0"/>
              </a:defRPr>
            </a:lvl1pPr>
            <a:lvl2pPr marL="822960" indent="-457200">
              <a:spcBef>
                <a:spcPts val="1200"/>
              </a:spcBef>
              <a:spcAft>
                <a:spcPts val="0"/>
              </a:spcAft>
              <a:buFont typeface="ArialMT" charset="0"/>
              <a:buChar char="—"/>
              <a:defRPr sz="2800">
                <a:latin typeface="Helvetica Neue" charset="0"/>
                <a:ea typeface="Helvetica Neue" charset="0"/>
                <a:cs typeface="Helvetica Neue" charset="0"/>
              </a:defRPr>
            </a:lvl2pPr>
            <a:lvl3pPr>
              <a:spcBef>
                <a:spcPts val="0"/>
              </a:spcBef>
              <a:spcAft>
                <a:spcPts val="1800"/>
              </a:spcAft>
              <a:defRPr sz="2800">
                <a:latin typeface="Helvetica Neue" charset="0"/>
                <a:ea typeface="Helvetica Neue" charset="0"/>
                <a:cs typeface="Helvetica Neue" charset="0"/>
              </a:defRPr>
            </a:lvl3pPr>
            <a:lvl4pPr>
              <a:spcBef>
                <a:spcPts val="0"/>
              </a:spcBef>
              <a:spcAft>
                <a:spcPts val="1800"/>
              </a:spcAft>
              <a:defRPr sz="2800">
                <a:latin typeface="Helvetica Neue" charset="0"/>
                <a:ea typeface="Helvetica Neue" charset="0"/>
                <a:cs typeface="Helvetica Neue" charset="0"/>
              </a:defRPr>
            </a:lvl4pPr>
            <a:lvl5pPr>
              <a:spcBef>
                <a:spcPts val="0"/>
              </a:spcBef>
              <a:spcAft>
                <a:spcPts val="1800"/>
              </a:spcAft>
              <a:defRPr sz="2800">
                <a:latin typeface="Helvetica Neue" charset="0"/>
                <a:ea typeface="Helvetica Neue" charset="0"/>
                <a:cs typeface="Helvetica Neu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fld id="{53FAD56B-19B0-7E49-8A63-E22C22CE478D}" type="datetimeFigureOut">
              <a:rPr lang="en-US" smtClean="0"/>
              <a:t>10/8/19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fld id="{4ADFE1AD-80BD-8441-B7AB-37A3E1CCA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19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481262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2400"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588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83480"/>
          </a:xfrm>
        </p:spPr>
        <p:txBody>
          <a:bodyPr>
            <a:normAutofit/>
          </a:bodyPr>
          <a:lstStyle>
            <a:lvl1pPr>
              <a:defRPr sz="2400"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400">
                <a:latin typeface="Helvetica Neue" charset="0"/>
                <a:ea typeface="Helvetica Neue" charset="0"/>
                <a:cs typeface="Helvetica Neue" charset="0"/>
              </a:defRPr>
            </a:lvl2pPr>
            <a:lvl3pPr>
              <a:defRPr sz="2400">
                <a:latin typeface="Helvetica Neue" charset="0"/>
                <a:ea typeface="Helvetica Neue" charset="0"/>
                <a:cs typeface="Helvetica Neue" charset="0"/>
              </a:defRPr>
            </a:lvl3pPr>
            <a:lvl4pPr>
              <a:defRPr sz="2400">
                <a:latin typeface="Helvetica Neue" charset="0"/>
                <a:ea typeface="Helvetica Neue" charset="0"/>
                <a:cs typeface="Helvetica Neue" charset="0"/>
              </a:defRPr>
            </a:lvl4pPr>
            <a:lvl5pPr>
              <a:defRPr sz="2400">
                <a:latin typeface="Helvetica Neue" charset="0"/>
                <a:ea typeface="Helvetica Neue" charset="0"/>
                <a:cs typeface="Helvetica Neue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983480"/>
          </a:xfrm>
        </p:spPr>
        <p:txBody>
          <a:bodyPr>
            <a:normAutofit/>
          </a:bodyPr>
          <a:lstStyle>
            <a:lvl1pPr>
              <a:defRPr sz="2400"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400">
                <a:latin typeface="Helvetica Neue" charset="0"/>
                <a:ea typeface="Helvetica Neue" charset="0"/>
                <a:cs typeface="Helvetica Neue" charset="0"/>
              </a:defRPr>
            </a:lvl2pPr>
            <a:lvl3pPr>
              <a:defRPr sz="2400">
                <a:latin typeface="Helvetica Neue" charset="0"/>
                <a:ea typeface="Helvetica Neue" charset="0"/>
                <a:cs typeface="Helvetica Neue" charset="0"/>
              </a:defRPr>
            </a:lvl3pPr>
            <a:lvl4pPr>
              <a:defRPr sz="2400">
                <a:latin typeface="Helvetica Neue" charset="0"/>
                <a:ea typeface="Helvetica Neue" charset="0"/>
                <a:cs typeface="Helvetica Neue" charset="0"/>
              </a:defRPr>
            </a:lvl4pPr>
            <a:lvl5pPr>
              <a:defRPr sz="2400">
                <a:latin typeface="Helvetica Neue" charset="0"/>
                <a:ea typeface="Helvetica Neue" charset="0"/>
                <a:cs typeface="Helvetica Neue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507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56B-19B0-7E49-8A63-E22C22CE478D}" type="datetimeFigureOut">
              <a:rPr lang="en-US" smtClean="0"/>
              <a:t>10/8/19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FE1AD-80BD-8441-B7AB-37A3E1CCA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53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ersti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53716"/>
            <a:ext cx="7772400" cy="14700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  <a:latin typeface="Helvetica"/>
                <a:cs typeface="Helvetica"/>
              </a:defRPr>
            </a:lvl1pPr>
          </a:lstStyle>
          <a:p>
            <a:fld id="{53FAD56B-19B0-7E49-8A63-E22C22CE478D}" type="datetimeFigureOut">
              <a:rPr lang="en-US" smtClean="0"/>
              <a:t>10/8/19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  <a:latin typeface="Helvetica"/>
                <a:cs typeface="Helvetica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3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AD56B-19B0-7E49-8A63-E22C22CE478D}" type="datetimeFigureOut">
              <a:rPr lang="en-US" smtClean="0"/>
              <a:t>10/8/19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FE1AD-80BD-8441-B7AB-37A3E1CCA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318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ECA502-B3A8-4440-AF72-CAD07EBE0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Quiz 1 Prep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A570A09-C83F-9E4D-8B7F-3E3DCE1BB4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CSCI 3002 Fall 2019</a:t>
            </a:r>
          </a:p>
        </p:txBody>
      </p:sp>
    </p:spTree>
    <p:extLst>
      <p:ext uri="{BB962C8B-B14F-4D97-AF65-F5344CB8AC3E}">
        <p14:creationId xmlns:p14="http://schemas.microsoft.com/office/powerpoint/2010/main" val="1715306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20CA-271C-9140-BFA1-04CF5EF3AB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Get your clickers ready 😎</a:t>
            </a:r>
          </a:p>
        </p:txBody>
      </p:sp>
    </p:spTree>
    <p:extLst>
      <p:ext uri="{BB962C8B-B14F-4D97-AF65-F5344CB8AC3E}">
        <p14:creationId xmlns:p14="http://schemas.microsoft.com/office/powerpoint/2010/main" val="76438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AD2D6C-5D4A-7F48-8069-CF63811B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Details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679A6-7A74-DA4A-8589-C8D3EED68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About 4-5 short answer questions</a:t>
            </a:r>
          </a:p>
          <a:p>
            <a:r>
              <a:rPr lang="en-US"/>
              <a:t>Covers content up through today</a:t>
            </a:r>
            <a:br>
              <a:rPr lang="en-US"/>
            </a:br>
            <a:r>
              <a:rPr lang="en-US"/>
              <a:t>(intro to visual design, visual perception, color representations)</a:t>
            </a:r>
          </a:p>
          <a:p>
            <a:r>
              <a:rPr lang="en-US"/>
              <a:t>If you need accommodations, see today’s post on Canvas and sign up by </a:t>
            </a:r>
            <a:r>
              <a:rPr 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Wednesday 10pm</a:t>
            </a:r>
          </a:p>
        </p:txBody>
      </p:sp>
    </p:spTree>
    <p:extLst>
      <p:ext uri="{BB962C8B-B14F-4D97-AF65-F5344CB8AC3E}">
        <p14:creationId xmlns:p14="http://schemas.microsoft.com/office/powerpoint/2010/main" val="379702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C9D7-71F6-B24F-8BA0-2070A6205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Study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8F886-2D74-4141-A6F9-E70E38184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Read through slides from each class</a:t>
            </a:r>
          </a:p>
          <a:p>
            <a:r>
              <a:rPr lang="en-US"/>
              <a:t>Note 2-3 most important points from each class</a:t>
            </a:r>
          </a:p>
          <a:p>
            <a:r>
              <a:rPr lang="en-US"/>
              <a:t>(Quiz may address reading, but only things that were also discussed in class/in slides)</a:t>
            </a:r>
          </a:p>
        </p:txBody>
      </p:sp>
    </p:spTree>
    <p:extLst>
      <p:ext uri="{BB962C8B-B14F-4D97-AF65-F5344CB8AC3E}">
        <p14:creationId xmlns:p14="http://schemas.microsoft.com/office/powerpoint/2010/main" val="7021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6D2C-9061-C143-B8FD-DDC18D12C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Demonstrating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54719-9660-7D49-95FE-E32E94953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Know concepts and methods</a:t>
            </a:r>
          </a:p>
          <a:p>
            <a:r>
              <a:rPr lang="en-US"/>
              <a:t>Explain what they are used for</a:t>
            </a:r>
          </a:p>
          <a:p>
            <a:r>
              <a:rPr lang="en-US"/>
              <a:t>Be able to use them (at a high level)</a:t>
            </a:r>
          </a:p>
        </p:txBody>
      </p:sp>
    </p:spTree>
    <p:extLst>
      <p:ext uri="{BB962C8B-B14F-4D97-AF65-F5344CB8AC3E}">
        <p14:creationId xmlns:p14="http://schemas.microsoft.com/office/powerpoint/2010/main" val="257363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42B598-CD98-8A46-B87B-69728129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5015"/>
          </a:xfrm>
        </p:spPr>
        <p:txBody>
          <a:bodyPr/>
          <a:lstStyle/>
          <a:p>
            <a:r>
              <a:rPr lang="en-US"/>
              <a:t>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DF2751-E85F-9840-8CD4-EA50C5857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55923"/>
            <a:ext cx="4038600" cy="5327757"/>
          </a:xfrm>
        </p:spPr>
        <p:txBody>
          <a:bodyPr>
            <a:normAutofit lnSpcReduction="10000"/>
          </a:bodyPr>
          <a:lstStyle/>
          <a:p>
            <a:r>
              <a:rPr lang="en-US" sz="2000"/>
              <a:t>User-centered design model</a:t>
            </a:r>
          </a:p>
          <a:p>
            <a:r>
              <a:rPr lang="en-US" sz="2000"/>
              <a:t>Trade-offs in design</a:t>
            </a:r>
          </a:p>
          <a:p>
            <a:r>
              <a:rPr lang="en-US" sz="2000"/>
              <a:t>Workarounds</a:t>
            </a:r>
          </a:p>
          <a:p>
            <a:r>
              <a:rPr lang="en-US" sz="2000"/>
              <a:t>The Deep Dive</a:t>
            </a:r>
            <a:br>
              <a:rPr lang="en-US" sz="2000"/>
            </a:br>
            <a:endParaRPr lang="en-US" sz="2000"/>
          </a:p>
          <a:p>
            <a:r>
              <a:rPr lang="en-US" sz="2000"/>
              <a:t>Brainstorming rules &amp; techniques, bootlegging</a:t>
            </a:r>
            <a:br>
              <a:rPr lang="en-US" sz="2000"/>
            </a:br>
            <a:endParaRPr lang="en-US" sz="2000"/>
          </a:p>
          <a:p>
            <a:r>
              <a:rPr lang="en-US" sz="2000"/>
              <a:t>Personas (what, why, how)</a:t>
            </a:r>
          </a:p>
          <a:p>
            <a:r>
              <a:rPr lang="en-US" sz="2000"/>
              <a:t>Users and stakeholders</a:t>
            </a:r>
          </a:p>
          <a:p>
            <a:r>
              <a:rPr lang="en-US" sz="2000"/>
              <a:t>Non-targeted use</a:t>
            </a:r>
          </a:p>
          <a:p>
            <a:r>
              <a:rPr lang="en-US" sz="2000"/>
              <a:t>Scenarios</a:t>
            </a:r>
          </a:p>
          <a:p>
            <a:r>
              <a:rPr lang="en-US" sz="2000"/>
              <a:t>Task models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58701-2BBB-E84B-8AC5-2AAB1F0EB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55923"/>
            <a:ext cx="4038600" cy="5327757"/>
          </a:xfrm>
        </p:spPr>
        <p:txBody>
          <a:bodyPr>
            <a:normAutofit lnSpcReduction="10000"/>
          </a:bodyPr>
          <a:lstStyle/>
          <a:p>
            <a:r>
              <a:rPr lang="en-US" sz="2000"/>
              <a:t>Research methods (interview, questionnaire, focus group, diary study, cultural probe, contextual inquiry)</a:t>
            </a:r>
          </a:p>
          <a:p>
            <a:r>
              <a:rPr lang="en-US" sz="2000"/>
              <a:t>For research methods: benefits and tradeoffs, how to do them</a:t>
            </a:r>
            <a:br>
              <a:rPr lang="en-US" sz="2000"/>
            </a:br>
            <a:endParaRPr lang="en-US" sz="2000"/>
          </a:p>
          <a:p>
            <a:r>
              <a:rPr lang="en-US" sz="2000"/>
              <a:t>Sketching and storyboarding</a:t>
            </a:r>
          </a:p>
          <a:p>
            <a:r>
              <a:rPr lang="en-US" sz="2000"/>
              <a:t>Visual design basics (contrast, alignment, proximity)</a:t>
            </a:r>
          </a:p>
          <a:p>
            <a:r>
              <a:rPr lang="en-US" sz="2000"/>
              <a:t>Visual hierarchy</a:t>
            </a:r>
            <a:br>
              <a:rPr lang="en-US" sz="2000"/>
            </a:br>
            <a:endParaRPr lang="en-US" sz="2000"/>
          </a:p>
          <a:p>
            <a:r>
              <a:rPr lang="en-US" sz="2000"/>
              <a:t>Visual processing (preattentive processing, features)</a:t>
            </a:r>
          </a:p>
          <a:p>
            <a:r>
              <a:rPr lang="en-US" sz="2000"/>
              <a:t>Color representations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61190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F75543-8E8D-FC45-B6ED-7570728D74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Some clicker questions</a:t>
            </a:r>
          </a:p>
        </p:txBody>
      </p:sp>
    </p:spTree>
    <p:extLst>
      <p:ext uri="{BB962C8B-B14F-4D97-AF65-F5344CB8AC3E}">
        <p14:creationId xmlns:p14="http://schemas.microsoft.com/office/powerpoint/2010/main" val="425800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3"/>
            <a:ext cx="8229600" cy="4525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What activity best matches the task of “ideation” in our user-centered design model?</a:t>
            </a:r>
          </a:p>
          <a:p>
            <a:endParaRPr lang="en-US" b="1"/>
          </a:p>
          <a:p>
            <a:r>
              <a:rPr lang="en-US" b="1"/>
              <a:t>A: User research</a:t>
            </a:r>
          </a:p>
          <a:p>
            <a:r>
              <a:rPr lang="en-US" b="1"/>
              <a:t>B: Drawing scenarios</a:t>
            </a:r>
          </a:p>
          <a:p>
            <a:r>
              <a:rPr lang="en-US" b="1"/>
              <a:t>C: Brainstorming ideas</a:t>
            </a:r>
          </a:p>
          <a:p>
            <a:r>
              <a:rPr lang="en-US" b="1"/>
              <a:t>D: Making prototypes</a:t>
            </a: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61424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3"/>
            <a:ext cx="8229600" cy="4525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What activity best matches the task of “ideation” in our user-centered design model?</a:t>
            </a:r>
          </a:p>
          <a:p>
            <a:endParaRPr lang="en-US" b="1"/>
          </a:p>
          <a:p>
            <a:r>
              <a:rPr lang="en-US" b="1"/>
              <a:t>A: User research</a:t>
            </a:r>
          </a:p>
          <a:p>
            <a:r>
              <a:rPr lang="en-US" b="1"/>
              <a:t>B: Drawing scenarios</a:t>
            </a:r>
          </a:p>
          <a:p>
            <a:r>
              <a:rPr 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C: Brainstorming ideas</a:t>
            </a:r>
          </a:p>
          <a:p>
            <a:r>
              <a:rPr lang="en-US" b="1"/>
              <a:t>D: Making prototypes</a:t>
            </a: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228983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3"/>
            <a:ext cx="8229600" cy="4525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What does a persona represent?</a:t>
            </a:r>
          </a:p>
          <a:p>
            <a:endParaRPr lang="en-US" b="1"/>
          </a:p>
          <a:p>
            <a:r>
              <a:rPr lang="en-US" b="1"/>
              <a:t>A: A prototype system</a:t>
            </a:r>
          </a:p>
          <a:p>
            <a:r>
              <a:rPr lang="en-US" b="1"/>
              <a:t>B: A fictional user</a:t>
            </a:r>
          </a:p>
          <a:p>
            <a:r>
              <a:rPr lang="en-US" b="1"/>
              <a:t>C: A real user</a:t>
            </a:r>
          </a:p>
          <a:p>
            <a:r>
              <a:rPr lang="en-US" b="1"/>
              <a:t>D: A task within the system</a:t>
            </a:r>
          </a:p>
        </p:txBody>
      </p:sp>
    </p:spTree>
    <p:extLst>
      <p:ext uri="{BB962C8B-B14F-4D97-AF65-F5344CB8AC3E}">
        <p14:creationId xmlns:p14="http://schemas.microsoft.com/office/powerpoint/2010/main" val="85454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3"/>
            <a:ext cx="8229600" cy="4525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What does a persona represent?</a:t>
            </a:r>
          </a:p>
          <a:p>
            <a:endParaRPr lang="en-US" b="1"/>
          </a:p>
          <a:p>
            <a:r>
              <a:rPr lang="en-US" b="1"/>
              <a:t>A: A prototype system</a:t>
            </a:r>
          </a:p>
          <a:p>
            <a:r>
              <a:rPr 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B: A fictional user</a:t>
            </a:r>
          </a:p>
          <a:p>
            <a:r>
              <a:rPr lang="en-US" b="1"/>
              <a:t>C: A real user</a:t>
            </a:r>
          </a:p>
          <a:p>
            <a:r>
              <a:rPr lang="en-US" b="1"/>
              <a:t>D: A task within the system</a:t>
            </a:r>
          </a:p>
        </p:txBody>
      </p:sp>
    </p:spTree>
    <p:extLst>
      <p:ext uri="{BB962C8B-B14F-4D97-AF65-F5344CB8AC3E}">
        <p14:creationId xmlns:p14="http://schemas.microsoft.com/office/powerpoint/2010/main" val="2879341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3"/>
            <a:ext cx="8229600" cy="4525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What is bootlegging?</a:t>
            </a:r>
          </a:p>
          <a:p>
            <a:endParaRPr lang="en-US" b="1"/>
          </a:p>
          <a:p>
            <a:r>
              <a:rPr lang="en-US" b="1"/>
              <a:t>A: brainstorming technique</a:t>
            </a:r>
          </a:p>
          <a:p>
            <a:r>
              <a:rPr lang="en-US" b="1"/>
              <a:t>B: sketching technique</a:t>
            </a:r>
          </a:p>
          <a:p>
            <a:r>
              <a:rPr lang="en-US" b="1"/>
              <a:t>C: prototyping technique</a:t>
            </a:r>
          </a:p>
          <a:p>
            <a:r>
              <a:rPr lang="en-US" b="1"/>
              <a:t>D: user research technique</a:t>
            </a:r>
          </a:p>
        </p:txBody>
      </p:sp>
    </p:spTree>
    <p:extLst>
      <p:ext uri="{BB962C8B-B14F-4D97-AF65-F5344CB8AC3E}">
        <p14:creationId xmlns:p14="http://schemas.microsoft.com/office/powerpoint/2010/main" val="2088319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3"/>
            <a:ext cx="8229600" cy="4525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What is bootlegging?</a:t>
            </a:r>
          </a:p>
          <a:p>
            <a:endParaRPr lang="en-US" b="1"/>
          </a:p>
          <a:p>
            <a:r>
              <a:rPr 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A: brainstorming technique</a:t>
            </a:r>
          </a:p>
          <a:p>
            <a:r>
              <a:rPr lang="en-US" b="1"/>
              <a:t>B: sketching technique</a:t>
            </a:r>
          </a:p>
          <a:p>
            <a:r>
              <a:rPr lang="en-US" b="1"/>
              <a:t>C: prototyping technique</a:t>
            </a:r>
          </a:p>
          <a:p>
            <a:r>
              <a:rPr lang="en-US" b="1"/>
              <a:t>D: user research technique</a:t>
            </a:r>
          </a:p>
        </p:txBody>
      </p:sp>
    </p:spTree>
    <p:extLst>
      <p:ext uri="{BB962C8B-B14F-4D97-AF65-F5344CB8AC3E}">
        <p14:creationId xmlns:p14="http://schemas.microsoft.com/office/powerpoint/2010/main" val="4111026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Research method in which the participant records events on their own time</a:t>
            </a:r>
          </a:p>
          <a:p>
            <a:endParaRPr lang="en-US" b="1"/>
          </a:p>
          <a:p>
            <a:r>
              <a:rPr lang="en-US" b="1"/>
              <a:t>A: contextual inquiry</a:t>
            </a:r>
          </a:p>
          <a:p>
            <a:r>
              <a:rPr lang="en-US" b="1"/>
              <a:t>B: focus group</a:t>
            </a:r>
          </a:p>
          <a:p>
            <a:r>
              <a:rPr lang="en-US" b="1"/>
              <a:t>C: cultural probe</a:t>
            </a:r>
          </a:p>
          <a:p>
            <a:r>
              <a:rPr lang="en-US" b="1"/>
              <a:t>D: diary study</a:t>
            </a:r>
          </a:p>
          <a:p>
            <a:r>
              <a:rPr lang="en-US" b="1"/>
              <a:t>E: focus group</a:t>
            </a:r>
          </a:p>
        </p:txBody>
      </p:sp>
    </p:spTree>
    <p:extLst>
      <p:ext uri="{BB962C8B-B14F-4D97-AF65-F5344CB8AC3E}">
        <p14:creationId xmlns:p14="http://schemas.microsoft.com/office/powerpoint/2010/main" val="3106358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Research method in which the participant records events on their own time</a:t>
            </a:r>
          </a:p>
          <a:p>
            <a:endParaRPr lang="en-US" b="1"/>
          </a:p>
          <a:p>
            <a:r>
              <a:rPr lang="en-US" b="1"/>
              <a:t>A: contextual inquiry</a:t>
            </a:r>
          </a:p>
          <a:p>
            <a:r>
              <a:rPr lang="en-US" b="1"/>
              <a:t>B: focus group</a:t>
            </a:r>
          </a:p>
          <a:p>
            <a:r>
              <a:rPr lang="en-US" b="1"/>
              <a:t>C: cultural probe</a:t>
            </a:r>
          </a:p>
          <a:p>
            <a:r>
              <a:rPr 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D: diary study</a:t>
            </a:r>
          </a:p>
          <a:p>
            <a:r>
              <a:rPr lang="en-US" b="1"/>
              <a:t>E: focus group</a:t>
            </a:r>
          </a:p>
        </p:txBody>
      </p:sp>
    </p:spTree>
    <p:extLst>
      <p:ext uri="{BB962C8B-B14F-4D97-AF65-F5344CB8AC3E}">
        <p14:creationId xmlns:p14="http://schemas.microsoft.com/office/powerpoint/2010/main" val="3862522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Research method in which the participant completes worksheets and other activities</a:t>
            </a:r>
          </a:p>
          <a:p>
            <a:endParaRPr lang="en-US" b="1"/>
          </a:p>
          <a:p>
            <a:r>
              <a:rPr lang="en-US" b="1"/>
              <a:t>A: contextual inquiry</a:t>
            </a:r>
          </a:p>
          <a:p>
            <a:r>
              <a:rPr lang="en-US" b="1"/>
              <a:t>B: focus group</a:t>
            </a:r>
          </a:p>
          <a:p>
            <a:r>
              <a:rPr lang="en-US" b="1"/>
              <a:t>C: cultural probe</a:t>
            </a:r>
          </a:p>
          <a:p>
            <a:r>
              <a:rPr lang="en-US" b="1"/>
              <a:t>D: diary study</a:t>
            </a:r>
          </a:p>
          <a:p>
            <a:r>
              <a:rPr lang="en-US" b="1"/>
              <a:t>E: focus group</a:t>
            </a:r>
          </a:p>
        </p:txBody>
      </p:sp>
    </p:spTree>
    <p:extLst>
      <p:ext uri="{BB962C8B-B14F-4D97-AF65-F5344CB8AC3E}">
        <p14:creationId xmlns:p14="http://schemas.microsoft.com/office/powerpoint/2010/main" val="345793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Research method in which the participant completes worksheets and other activities</a:t>
            </a:r>
          </a:p>
          <a:p>
            <a:endParaRPr lang="en-US" b="1"/>
          </a:p>
          <a:p>
            <a:r>
              <a:rPr lang="en-US" b="1"/>
              <a:t>A: contextual inquiry</a:t>
            </a:r>
          </a:p>
          <a:p>
            <a:r>
              <a:rPr lang="en-US" b="1"/>
              <a:t>B: focus group</a:t>
            </a:r>
          </a:p>
          <a:p>
            <a:r>
              <a:rPr 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C: cultural probe</a:t>
            </a:r>
          </a:p>
          <a:p>
            <a:r>
              <a:rPr lang="en-US" b="1"/>
              <a:t>D: diary study</a:t>
            </a:r>
          </a:p>
          <a:p>
            <a:r>
              <a:rPr lang="en-US" b="1"/>
              <a:t>E: focus group</a:t>
            </a:r>
          </a:p>
        </p:txBody>
      </p:sp>
    </p:spTree>
    <p:extLst>
      <p:ext uri="{BB962C8B-B14F-4D97-AF65-F5344CB8AC3E}">
        <p14:creationId xmlns:p14="http://schemas.microsoft.com/office/powerpoint/2010/main" val="244514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Research method in which the researcher trails the participant, acting like an intern</a:t>
            </a:r>
          </a:p>
          <a:p>
            <a:endParaRPr lang="en-US" b="1"/>
          </a:p>
          <a:p>
            <a:r>
              <a:rPr lang="en-US" b="1"/>
              <a:t>A: contextual inquiry</a:t>
            </a:r>
          </a:p>
          <a:p>
            <a:r>
              <a:rPr lang="en-US" b="1"/>
              <a:t>B: focus group</a:t>
            </a:r>
          </a:p>
          <a:p>
            <a:r>
              <a:rPr lang="en-US" b="1"/>
              <a:t>C: cultural probe</a:t>
            </a:r>
          </a:p>
          <a:p>
            <a:r>
              <a:rPr lang="en-US" b="1"/>
              <a:t>D: diary study</a:t>
            </a:r>
          </a:p>
          <a:p>
            <a:r>
              <a:rPr lang="en-US" b="1"/>
              <a:t>E: focus group</a:t>
            </a:r>
          </a:p>
        </p:txBody>
      </p:sp>
    </p:spTree>
    <p:extLst>
      <p:ext uri="{BB962C8B-B14F-4D97-AF65-F5344CB8AC3E}">
        <p14:creationId xmlns:p14="http://schemas.microsoft.com/office/powerpoint/2010/main" val="920649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Research method in which the researcher trails the participant, acting like an intern</a:t>
            </a:r>
          </a:p>
          <a:p>
            <a:endParaRPr lang="en-US" b="1"/>
          </a:p>
          <a:p>
            <a:r>
              <a:rPr 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A: contextual inquiry</a:t>
            </a:r>
          </a:p>
          <a:p>
            <a:r>
              <a:rPr lang="en-US" b="1"/>
              <a:t>B: focus group</a:t>
            </a:r>
          </a:p>
          <a:p>
            <a:r>
              <a:rPr lang="en-US" b="1"/>
              <a:t>C: cultural probe</a:t>
            </a:r>
          </a:p>
          <a:p>
            <a:r>
              <a:rPr lang="en-US" b="1"/>
              <a:t>D: diary study</a:t>
            </a:r>
          </a:p>
          <a:p>
            <a:r>
              <a:rPr lang="en-US" b="1"/>
              <a:t>E: focus group</a:t>
            </a:r>
          </a:p>
        </p:txBody>
      </p:sp>
    </p:spTree>
    <p:extLst>
      <p:ext uri="{BB962C8B-B14F-4D97-AF65-F5344CB8AC3E}">
        <p14:creationId xmlns:p14="http://schemas.microsoft.com/office/powerpoint/2010/main" val="555461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Which of these </a:t>
            </a:r>
            <a:r>
              <a:rPr lang="en-US" b="1"/>
              <a:t>is</a:t>
            </a:r>
            <a:r>
              <a:rPr lang="en-US"/>
              <a:t> a component of the HSB color model?</a:t>
            </a:r>
          </a:p>
          <a:p>
            <a:endParaRPr lang="en-US" b="1"/>
          </a:p>
          <a:p>
            <a:r>
              <a:rPr lang="en-US" b="1"/>
              <a:t>A: harmony</a:t>
            </a:r>
          </a:p>
          <a:p>
            <a:r>
              <a:rPr lang="en-US" b="1"/>
              <a:t>B: sharpness</a:t>
            </a:r>
          </a:p>
          <a:p>
            <a:r>
              <a:rPr lang="en-US" b="1"/>
              <a:t>C: balance</a:t>
            </a:r>
          </a:p>
          <a:p>
            <a:r>
              <a:rPr lang="en-US" b="1"/>
              <a:t>D: saturation</a:t>
            </a:r>
          </a:p>
          <a:p>
            <a:r>
              <a:rPr lang="en-US" b="1"/>
              <a:t>E: black</a:t>
            </a:r>
          </a:p>
        </p:txBody>
      </p:sp>
    </p:spTree>
    <p:extLst>
      <p:ext uri="{BB962C8B-B14F-4D97-AF65-F5344CB8AC3E}">
        <p14:creationId xmlns:p14="http://schemas.microsoft.com/office/powerpoint/2010/main" val="2537277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Which of these </a:t>
            </a:r>
            <a:r>
              <a:rPr lang="en-US" b="1"/>
              <a:t>is</a:t>
            </a:r>
            <a:r>
              <a:rPr lang="en-US"/>
              <a:t> a component of the HSB color model?</a:t>
            </a:r>
          </a:p>
          <a:p>
            <a:endParaRPr lang="en-US" b="1"/>
          </a:p>
          <a:p>
            <a:r>
              <a:rPr lang="en-US" b="1"/>
              <a:t>A: harmony</a:t>
            </a:r>
          </a:p>
          <a:p>
            <a:r>
              <a:rPr lang="en-US" b="1"/>
              <a:t>B: sharpness</a:t>
            </a:r>
          </a:p>
          <a:p>
            <a:r>
              <a:rPr lang="en-US" b="1"/>
              <a:t>C: balance</a:t>
            </a:r>
          </a:p>
          <a:p>
            <a:r>
              <a:rPr 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D: saturation</a:t>
            </a:r>
          </a:p>
          <a:p>
            <a:r>
              <a:rPr lang="en-US" b="1"/>
              <a:t>E: black</a:t>
            </a:r>
          </a:p>
        </p:txBody>
      </p:sp>
    </p:spTree>
    <p:extLst>
      <p:ext uri="{BB962C8B-B14F-4D97-AF65-F5344CB8AC3E}">
        <p14:creationId xmlns:p14="http://schemas.microsoft.com/office/powerpoint/2010/main" val="2075310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What do we call features that are very quickly processed by the human visual system?</a:t>
            </a:r>
          </a:p>
          <a:p>
            <a:endParaRPr lang="en-US" b="1"/>
          </a:p>
          <a:p>
            <a:r>
              <a:rPr lang="en-US" b="1"/>
              <a:t>A: low-level processing</a:t>
            </a:r>
          </a:p>
          <a:p>
            <a:r>
              <a:rPr lang="en-US" b="1"/>
              <a:t>B: visual attention</a:t>
            </a:r>
          </a:p>
          <a:p>
            <a:r>
              <a:rPr lang="en-US" b="1"/>
              <a:t>C: preattentive processing</a:t>
            </a:r>
          </a:p>
          <a:p>
            <a:r>
              <a:rPr lang="en-US" b="1"/>
              <a:t>D: F-shaped reading pattern</a:t>
            </a:r>
          </a:p>
        </p:txBody>
      </p:sp>
    </p:spTree>
    <p:extLst>
      <p:ext uri="{BB962C8B-B14F-4D97-AF65-F5344CB8AC3E}">
        <p14:creationId xmlns:p14="http://schemas.microsoft.com/office/powerpoint/2010/main" val="1228728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What do we call features that are very quickly processed by the human visual system?</a:t>
            </a:r>
          </a:p>
          <a:p>
            <a:endParaRPr lang="en-US" b="1"/>
          </a:p>
          <a:p>
            <a:r>
              <a:rPr lang="en-US" b="1"/>
              <a:t>A: low-level processing</a:t>
            </a:r>
          </a:p>
          <a:p>
            <a:r>
              <a:rPr lang="en-US" b="1"/>
              <a:t>B: visual attention</a:t>
            </a:r>
          </a:p>
          <a:p>
            <a:r>
              <a:rPr 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C: preattentive processing</a:t>
            </a:r>
          </a:p>
          <a:p>
            <a:r>
              <a:rPr lang="en-US" b="1"/>
              <a:t>D: F-shaped reading pattern</a:t>
            </a:r>
          </a:p>
        </p:txBody>
      </p:sp>
    </p:spTree>
    <p:extLst>
      <p:ext uri="{BB962C8B-B14F-4D97-AF65-F5344CB8AC3E}">
        <p14:creationId xmlns:p14="http://schemas.microsoft.com/office/powerpoint/2010/main" val="2544829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Which of these is not a step of the bootlegging process?</a:t>
            </a:r>
          </a:p>
          <a:p>
            <a:endParaRPr lang="en-US" b="1"/>
          </a:p>
          <a:p>
            <a:r>
              <a:rPr lang="en-US" b="1"/>
              <a:t>A: asking users for feedback</a:t>
            </a:r>
          </a:p>
          <a:p>
            <a:r>
              <a:rPr lang="en-US" b="1"/>
              <a:t>B: choosing key attributes</a:t>
            </a:r>
          </a:p>
          <a:p>
            <a:r>
              <a:rPr lang="en-US" b="1"/>
              <a:t>C: randomly selecting from each attribute</a:t>
            </a:r>
          </a:p>
          <a:p>
            <a:r>
              <a:rPr lang="en-US" b="1"/>
              <a:t>D: choosing a project domain</a:t>
            </a:r>
          </a:p>
        </p:txBody>
      </p:sp>
    </p:spTree>
    <p:extLst>
      <p:ext uri="{BB962C8B-B14F-4D97-AF65-F5344CB8AC3E}">
        <p14:creationId xmlns:p14="http://schemas.microsoft.com/office/powerpoint/2010/main" val="1706392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F429D2-1239-8E4C-8E6B-E26B1055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Clicker 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AEF7C-2546-F249-9C0A-0C097E883E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91932"/>
            <a:ext cx="8229600" cy="5278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Which of these is not a step of the bootlegging process?</a:t>
            </a:r>
          </a:p>
          <a:p>
            <a:endParaRPr lang="en-US" b="1"/>
          </a:p>
          <a:p>
            <a:r>
              <a:rPr 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A: asking users for feedback</a:t>
            </a:r>
          </a:p>
          <a:p>
            <a:r>
              <a:rPr lang="en-US" b="1"/>
              <a:t>B: choosing key attributes</a:t>
            </a:r>
          </a:p>
          <a:p>
            <a:r>
              <a:rPr lang="en-US" b="1"/>
              <a:t>C: randomly selecting from each attribute</a:t>
            </a:r>
          </a:p>
          <a:p>
            <a:r>
              <a:rPr lang="en-US" b="1"/>
              <a:t>D: choosing a project domain</a:t>
            </a:r>
          </a:p>
        </p:txBody>
      </p:sp>
    </p:spTree>
    <p:extLst>
      <p:ext uri="{BB962C8B-B14F-4D97-AF65-F5344CB8AC3E}">
        <p14:creationId xmlns:p14="http://schemas.microsoft.com/office/powerpoint/2010/main" val="1654818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D4A0B2-96C1-F041-9C87-D2A002085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to do next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96176-783B-DA49-841B-A5B1AE229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Write down 3 topics you should study before the quiz</a:t>
            </a:r>
          </a:p>
        </p:txBody>
      </p:sp>
    </p:spTree>
    <p:extLst>
      <p:ext uri="{BB962C8B-B14F-4D97-AF65-F5344CB8AC3E}">
        <p14:creationId xmlns:p14="http://schemas.microsoft.com/office/powerpoint/2010/main" val="2393324525"/>
      </p:ext>
    </p:extLst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Custom 1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6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Black .thmx</Template>
  <TotalTime>2139</TotalTime>
  <Words>743</Words>
  <Application>Microsoft Macintosh PowerPoint</Application>
  <PresentationFormat>On-screen Show (4:3)</PresentationFormat>
  <Paragraphs>189</Paragraphs>
  <Slides>26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ArialMT</vt:lpstr>
      <vt:lpstr>Calibri</vt:lpstr>
      <vt:lpstr>Helvetica</vt:lpstr>
      <vt:lpstr>Helvetica Neue</vt:lpstr>
      <vt:lpstr>Black</vt:lpstr>
      <vt:lpstr>Quiz 1 Prep</vt:lpstr>
      <vt:lpstr>Get your clickers ready 😎</vt:lpstr>
      <vt:lpstr>Details</vt:lpstr>
      <vt:lpstr>Study strategy</vt:lpstr>
      <vt:lpstr>Demonstrating understanding</vt:lpstr>
      <vt:lpstr>Topics</vt:lpstr>
      <vt:lpstr>Some clicker questions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Clicker Q</vt:lpstr>
      <vt:lpstr>What to do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 aloud </dc:title>
  <dc:creator>Shaun Kane</dc:creator>
  <cp:lastModifiedBy>Shaun Kane</cp:lastModifiedBy>
  <cp:revision>668</cp:revision>
  <dcterms:created xsi:type="dcterms:W3CDTF">2014-10-16T19:05:29Z</dcterms:created>
  <dcterms:modified xsi:type="dcterms:W3CDTF">2019-10-08T18:19:24Z</dcterms:modified>
</cp:coreProperties>
</file>