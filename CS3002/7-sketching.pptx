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32"/>
  </p:notesMasterIdLst>
  <p:handoutMasterIdLst>
    <p:handoutMasterId r:id="rId33"/>
  </p:handoutMasterIdLst>
  <p:sldIdLst>
    <p:sldId id="286" r:id="rId2"/>
    <p:sldId id="642" r:id="rId3"/>
    <p:sldId id="528" r:id="rId4"/>
    <p:sldId id="529" r:id="rId5"/>
    <p:sldId id="537" r:id="rId6"/>
    <p:sldId id="532" r:id="rId7"/>
    <p:sldId id="538" r:id="rId8"/>
    <p:sldId id="539" r:id="rId9"/>
    <p:sldId id="533" r:id="rId10"/>
    <p:sldId id="534" r:id="rId11"/>
    <p:sldId id="535" r:id="rId12"/>
    <p:sldId id="536" r:id="rId13"/>
    <p:sldId id="639" r:id="rId14"/>
    <p:sldId id="592" r:id="rId15"/>
    <p:sldId id="640" r:id="rId16"/>
    <p:sldId id="550" r:id="rId17"/>
    <p:sldId id="551" r:id="rId18"/>
    <p:sldId id="541" r:id="rId19"/>
    <p:sldId id="542" r:id="rId20"/>
    <p:sldId id="615" r:id="rId21"/>
    <p:sldId id="641" r:id="rId22"/>
    <p:sldId id="616" r:id="rId23"/>
    <p:sldId id="617" r:id="rId24"/>
    <p:sldId id="619" r:id="rId25"/>
    <p:sldId id="623" r:id="rId26"/>
    <p:sldId id="620" r:id="rId27"/>
    <p:sldId id="622" r:id="rId28"/>
    <p:sldId id="618" r:id="rId29"/>
    <p:sldId id="557" r:id="rId30"/>
    <p:sldId id="591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FD21E"/>
    <a:srgbClr val="FF395B"/>
    <a:srgbClr val="FF3A0C"/>
    <a:srgbClr val="8CAD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51" autoAdjust="0"/>
    <p:restoredTop sz="86674" autoAdjust="0"/>
  </p:normalViewPr>
  <p:slideViewPr>
    <p:cSldViewPr snapToObjects="1">
      <p:cViewPr varScale="1">
        <p:scale>
          <a:sx n="130" d="100"/>
          <a:sy n="130" d="100"/>
        </p:scale>
        <p:origin x="191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6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B51402-4D31-0A45-A88F-8AA5EF5AFD43}" type="datetimeFigureOut">
              <a:rPr lang="en-US" smtClean="0"/>
              <a:pPr/>
              <a:t>9/26/19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39052-4492-A441-82D2-9E555E86AE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9416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9D7D7C-FD6A-EA4E-AC46-B4F98488FC2C}" type="datetimeFigureOut">
              <a:rPr lang="en-US" smtClean="0"/>
              <a:pPr/>
              <a:t>9/26/19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C032BD-2EBB-454E-BC8D-08C6457A2B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70626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http://what-the-</a:t>
            </a:r>
            <a:r>
              <a:rPr lang="en-US" dirty="0" err="1"/>
              <a:t>fail.com</a:t>
            </a:r>
            <a:r>
              <a:rPr lang="en-US" dirty="0"/>
              <a:t>/computer-user-fail/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C032BD-2EBB-454E-BC8D-08C6457A2BD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692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If you feel like you know how to do this,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C032BD-2EBB-454E-BC8D-08C6457A2BD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9106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one should ever say, at this stage, whoa, that idea is TOO</a:t>
            </a:r>
            <a:r>
              <a:rPr lang="en-US" baseline="0" dirty="0"/>
              <a:t> different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C032BD-2EBB-454E-BC8D-08C6457A2BD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1933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prototyping</a:t>
            </a:r>
          </a:p>
          <a:p>
            <a:r>
              <a:rPr lang="en-US" dirty="0"/>
              <a:t>http://</a:t>
            </a:r>
            <a:r>
              <a:rPr lang="en-US" dirty="0" err="1"/>
              <a:t>idintern.wordpress.com</a:t>
            </a:r>
            <a:r>
              <a:rPr lang="en-US" dirty="0"/>
              <a:t>/2011/02/03/business-realities/s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C032BD-2EBB-454E-BC8D-08C6457A2BD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461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http://</a:t>
            </a:r>
            <a:r>
              <a:rPr lang="en-US" dirty="0" err="1"/>
              <a:t>brylie.gnumedia.org</a:t>
            </a:r>
            <a:r>
              <a:rPr lang="en-US" dirty="0"/>
              <a:t>/storyboarding/</a:t>
            </a:r>
          </a:p>
          <a:p>
            <a:r>
              <a:rPr lang="en-US" dirty="0"/>
              <a:t>Why</a:t>
            </a:r>
            <a:r>
              <a:rPr lang="en-US" baseline="0" dirty="0"/>
              <a:t> are star people better than stick people?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46FB44-8B3D-A548-8BC9-1FB636D8AF1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012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46735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464435"/>
          </a:xfrm>
        </p:spPr>
        <p:txBody>
          <a:bodyPr/>
          <a:lstStyle>
            <a:lvl1pPr>
              <a:defRPr b="1"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88634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875915"/>
          </a:xfrm>
        </p:spPr>
        <p:txBody>
          <a:bodyPr/>
          <a:lstStyle>
            <a:lvl1pPr>
              <a:defRPr b="1"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2197867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800"/>
              </a:spcAft>
              <a:defRPr sz="2800">
                <a:latin typeface="Helvetica Neue" charset="0"/>
                <a:ea typeface="Helvetica Neue" charset="0"/>
                <a:cs typeface="Helvetica Neue" charset="0"/>
              </a:defRPr>
            </a:lvl1pPr>
            <a:lvl2pPr>
              <a:spcBef>
                <a:spcPts val="0"/>
              </a:spcBef>
              <a:spcAft>
                <a:spcPts val="1800"/>
              </a:spcAft>
              <a:defRPr sz="2800">
                <a:latin typeface="Helvetica Neue" charset="0"/>
                <a:ea typeface="Helvetica Neue" charset="0"/>
                <a:cs typeface="Helvetica Neue" charset="0"/>
              </a:defRPr>
            </a:lvl2pPr>
            <a:lvl3pPr>
              <a:spcBef>
                <a:spcPts val="0"/>
              </a:spcBef>
              <a:spcAft>
                <a:spcPts val="1800"/>
              </a:spcAft>
              <a:defRPr sz="2800">
                <a:latin typeface="Helvetica Neue" charset="0"/>
                <a:ea typeface="Helvetica Neue" charset="0"/>
                <a:cs typeface="Helvetica Neue" charset="0"/>
              </a:defRPr>
            </a:lvl3pPr>
            <a:lvl4pPr>
              <a:spcBef>
                <a:spcPts val="0"/>
              </a:spcBef>
              <a:spcAft>
                <a:spcPts val="1800"/>
              </a:spcAft>
              <a:defRPr sz="2800">
                <a:latin typeface="Helvetica Neue" charset="0"/>
                <a:ea typeface="Helvetica Neue" charset="0"/>
                <a:cs typeface="Helvetica Neue" charset="0"/>
              </a:defRPr>
            </a:lvl4pPr>
            <a:lvl5pPr>
              <a:spcBef>
                <a:spcPts val="0"/>
              </a:spcBef>
              <a:spcAft>
                <a:spcPts val="1800"/>
              </a:spcAft>
              <a:defRPr sz="2800">
                <a:latin typeface="Helvetica Neue" charset="0"/>
                <a:ea typeface="Helvetica Neue" charset="0"/>
                <a:cs typeface="Helvetica Neue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fld id="{8F4761FA-E1F6-2243-A18A-7922F0811E38}" type="datetime1">
              <a:rPr lang="en-US" smtClean="0"/>
              <a:t>9/26/19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fld id="{CC02CEE1-4BA7-AE41-B4FA-EC6288DCB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964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solidFill>
          <a:schemeClr val="bg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481262"/>
          </a:xfrm>
          <a:solidFill>
            <a:schemeClr val="bg1"/>
          </a:solidFill>
        </p:spPr>
        <p:txBody>
          <a:bodyPr>
            <a:noAutofit/>
          </a:bodyPr>
          <a:lstStyle>
            <a:lvl1pPr algn="l">
              <a:defRPr sz="2400" b="1"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972648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983480"/>
          </a:xfrm>
        </p:spPr>
        <p:txBody>
          <a:bodyPr>
            <a:normAutofit/>
          </a:bodyPr>
          <a:lstStyle>
            <a:lvl1pPr>
              <a:defRPr sz="2400">
                <a:latin typeface="Helvetica Neue" charset="0"/>
                <a:ea typeface="Helvetica Neue" charset="0"/>
                <a:cs typeface="Helvetica Neue" charset="0"/>
              </a:defRPr>
            </a:lvl1pPr>
            <a:lvl2pPr>
              <a:defRPr sz="2400">
                <a:latin typeface="Helvetica Neue" charset="0"/>
                <a:ea typeface="Helvetica Neue" charset="0"/>
                <a:cs typeface="Helvetica Neue" charset="0"/>
              </a:defRPr>
            </a:lvl2pPr>
            <a:lvl3pPr>
              <a:defRPr sz="2400">
                <a:latin typeface="Helvetica Neue" charset="0"/>
                <a:ea typeface="Helvetica Neue" charset="0"/>
                <a:cs typeface="Helvetica Neue" charset="0"/>
              </a:defRPr>
            </a:lvl3pPr>
            <a:lvl4pPr>
              <a:defRPr sz="2400">
                <a:latin typeface="Helvetica Neue" charset="0"/>
                <a:ea typeface="Helvetica Neue" charset="0"/>
                <a:cs typeface="Helvetica Neue" charset="0"/>
              </a:defRPr>
            </a:lvl4pPr>
            <a:lvl5pPr>
              <a:defRPr sz="2400">
                <a:latin typeface="Helvetica Neue" charset="0"/>
                <a:ea typeface="Helvetica Neue" charset="0"/>
                <a:cs typeface="Helvetica Neue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983480"/>
          </a:xfrm>
        </p:spPr>
        <p:txBody>
          <a:bodyPr>
            <a:normAutofit/>
          </a:bodyPr>
          <a:lstStyle>
            <a:lvl1pPr>
              <a:defRPr sz="2400">
                <a:latin typeface="Helvetica Neue" charset="0"/>
                <a:ea typeface="Helvetica Neue" charset="0"/>
                <a:cs typeface="Helvetica Neue" charset="0"/>
              </a:defRPr>
            </a:lvl1pPr>
            <a:lvl2pPr>
              <a:defRPr sz="2400">
                <a:latin typeface="Helvetica Neue" charset="0"/>
                <a:ea typeface="Helvetica Neue" charset="0"/>
                <a:cs typeface="Helvetica Neue" charset="0"/>
              </a:defRPr>
            </a:lvl2pPr>
            <a:lvl3pPr>
              <a:defRPr sz="2400">
                <a:latin typeface="Helvetica Neue" charset="0"/>
                <a:ea typeface="Helvetica Neue" charset="0"/>
                <a:cs typeface="Helvetica Neue" charset="0"/>
              </a:defRPr>
            </a:lvl3pPr>
            <a:lvl4pPr>
              <a:defRPr sz="2400">
                <a:latin typeface="Helvetica Neue" charset="0"/>
                <a:ea typeface="Helvetica Neue" charset="0"/>
                <a:cs typeface="Helvetica Neue" charset="0"/>
              </a:defRPr>
            </a:lvl4pPr>
            <a:lvl5pPr>
              <a:defRPr sz="2400">
                <a:latin typeface="Helvetica Neue" charset="0"/>
                <a:ea typeface="Helvetica Neue" charset="0"/>
                <a:cs typeface="Helvetica Neue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1960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7393-C41A-C14B-AFB0-FC466BB71FA3}" type="datetime1">
              <a:rPr lang="en-US" smtClean="0"/>
              <a:t>9/26/19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CEE1-4BA7-AE41-B4FA-EC6288DCB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439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53716"/>
            <a:ext cx="7772400" cy="1470025"/>
          </a:xfrm>
        </p:spPr>
        <p:txBody>
          <a:bodyPr/>
          <a:lstStyle>
            <a:lvl1pPr algn="ctr">
              <a:defRPr>
                <a:solidFill>
                  <a:srgbClr val="00000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  <a:latin typeface="Helvetica"/>
                <a:cs typeface="Helvetica"/>
              </a:defRPr>
            </a:lvl1pPr>
          </a:lstStyle>
          <a:p>
            <a:fld id="{0A18B565-2176-4C43-997E-2AA8386C3859}" type="datetime1">
              <a:rPr lang="en-US" smtClean="0"/>
              <a:t>9/26/19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  <a:latin typeface="Helvetica"/>
                <a:cs typeface="Helvetica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663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7B274-75B8-694A-BF53-FD57153917E4}" type="datetime1">
              <a:rPr lang="en-US" smtClean="0"/>
              <a:pPr/>
              <a:t>9/26/19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56013-B943-42BA-886F-6F9D4EB85E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334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3221" b="3396"/>
          <a:stretch/>
        </p:blipFill>
        <p:spPr>
          <a:xfrm>
            <a:off x="1341329" y="533400"/>
            <a:ext cx="6629400" cy="4793499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0" y="5638800"/>
            <a:ext cx="9164053" cy="1066800"/>
          </a:xfrm>
          <a:solidFill>
            <a:schemeClr val="bg1">
              <a:alpha val="80000"/>
            </a:schemeClr>
          </a:solidFill>
        </p:spPr>
        <p:txBody>
          <a:bodyPr lIns="182880" tIns="91440" bIns="91440" anchor="t">
            <a:noAutofit/>
          </a:bodyPr>
          <a:lstStyle/>
          <a:p>
            <a:pPr marL="0" indent="0"/>
            <a:r>
              <a:rPr lang="en-US" sz="3600" b="1" dirty="0">
                <a:solidFill>
                  <a:schemeClr val="tx1"/>
                </a:solidFill>
              </a:rPr>
              <a:t>Sketching User Interfaces</a:t>
            </a:r>
            <a:br>
              <a:rPr lang="en-US" sz="3600" b="1" dirty="0">
                <a:solidFill>
                  <a:schemeClr val="tx1"/>
                </a:solidFill>
              </a:rPr>
            </a:br>
            <a:r>
              <a:rPr lang="en-US" sz="2000" b="0" dirty="0">
                <a:solidFill>
                  <a:srgbClr val="FFFFFF"/>
                </a:solidFill>
              </a:rPr>
              <a:t>CSCI </a:t>
            </a:r>
            <a:r>
              <a:rPr lang="en-US" sz="2000" dirty="0">
                <a:solidFill>
                  <a:srgbClr val="FFFFFF"/>
                </a:solidFill>
              </a:rPr>
              <a:t>3002 </a:t>
            </a:r>
            <a:r>
              <a:rPr lang="en-US" sz="2000" b="0" dirty="0">
                <a:solidFill>
                  <a:srgbClr val="FFFFFF"/>
                </a:solidFill>
              </a:rPr>
              <a:t>– Fall 2019</a:t>
            </a:r>
            <a:endParaRPr lang="en-US" sz="20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64852D-EFE0-784C-A1D8-C4A94E52A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But first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718684-7CD0-5D4A-B3A7-89B160337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Moving from open questions to closed questions</a:t>
            </a:r>
          </a:p>
          <a:p>
            <a:r>
              <a:rPr lang="en-US"/>
              <a:t>Next steps for the project</a:t>
            </a:r>
          </a:p>
        </p:txBody>
      </p:sp>
    </p:spTree>
    <p:extLst>
      <p:ext uri="{BB962C8B-B14F-4D97-AF65-F5344CB8AC3E}">
        <p14:creationId xmlns:p14="http://schemas.microsoft.com/office/powerpoint/2010/main" val="485666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Sketching</a:t>
            </a:r>
          </a:p>
        </p:txBody>
      </p:sp>
    </p:spTree>
    <p:extLst>
      <p:ext uri="{BB962C8B-B14F-4D97-AF65-F5344CB8AC3E}">
        <p14:creationId xmlns:p14="http://schemas.microsoft.com/office/powerpoint/2010/main" val="3214838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Sketching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sketch</a:t>
            </a:r>
          </a:p>
          <a:p>
            <a:r>
              <a:rPr lang="en-US" dirty="0"/>
              <a:t>Tips on sketching</a:t>
            </a:r>
          </a:p>
          <a:p>
            <a:r>
              <a:rPr lang="en-US" dirty="0"/>
              <a:t>Storyboarding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340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sketching?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Representing early ideas outside of your brain</a:t>
            </a:r>
          </a:p>
          <a:p>
            <a:endParaRPr lang="en-US" dirty="0"/>
          </a:p>
          <a:p>
            <a:r>
              <a:rPr lang="en-US" dirty="0"/>
              <a:t>Many forms: block diagrams, drawings, storyboards, text</a:t>
            </a:r>
          </a:p>
          <a:p>
            <a:endParaRPr lang="en-US" dirty="0"/>
          </a:p>
          <a:p>
            <a:r>
              <a:rPr lang="en-US" dirty="0"/>
              <a:t>Early ideas at a level of detail that is easy to work with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CEE1-4BA7-AE41-B4FA-EC6288DCBE8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94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sketch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Capture ideas before you forget them</a:t>
            </a:r>
          </a:p>
          <a:p>
            <a:endParaRPr lang="en-US" dirty="0"/>
          </a:p>
          <a:p>
            <a:r>
              <a:rPr lang="en-US" dirty="0"/>
              <a:t>Feed the creative part of your brain</a:t>
            </a:r>
          </a:p>
          <a:p>
            <a:endParaRPr lang="en-US" dirty="0"/>
          </a:p>
          <a:p>
            <a:r>
              <a:rPr lang="en-US" dirty="0"/>
              <a:t>Try out ideas quickly (and discard bad ones)</a:t>
            </a:r>
          </a:p>
          <a:p>
            <a:endParaRPr lang="en-US" dirty="0"/>
          </a:p>
          <a:p>
            <a:r>
              <a:rPr lang="en-US" dirty="0"/>
              <a:t>Prevent yourself from getting distracted by details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CEE1-4BA7-AE41-B4FA-EC6288DCBE8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783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88610"/>
            <a:ext cx="9144000" cy="744661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0" y="81612"/>
            <a:ext cx="3810000" cy="6395388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“The whole essence of good drawing – and of good thinking, perhaps – is to work a subject down to the simplest form possible and still have it believable for what it is meant to be.”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			–Chuck Jones</a:t>
            </a:r>
          </a:p>
        </p:txBody>
      </p:sp>
    </p:spTree>
    <p:extLst>
      <p:ext uri="{BB962C8B-B14F-4D97-AF65-F5344CB8AC3E}">
        <p14:creationId xmlns:p14="http://schemas.microsoft.com/office/powerpoint/2010/main" val="2039182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4800600" cy="513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“If Ernest Hemingway, James </a:t>
            </a:r>
            <a:r>
              <a:rPr lang="en-US" dirty="0" err="1"/>
              <a:t>Mitchener</a:t>
            </a:r>
            <a:r>
              <a:rPr lang="en-US" dirty="0"/>
              <a:t>, Neil Simon, Frank Lloyd Wright, and Pablo Picasso could not get it right the first time, what makes you think that you will?“</a:t>
            </a:r>
          </a:p>
          <a:p>
            <a:pPr marL="0" indent="0">
              <a:buNone/>
            </a:pPr>
            <a:r>
              <a:rPr lang="en-US" dirty="0"/>
              <a:t>	— Paul </a:t>
            </a:r>
            <a:r>
              <a:rPr lang="en-US" dirty="0" err="1"/>
              <a:t>Heckel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CEE1-4BA7-AE41-B4FA-EC6288DCBE8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300" y="990600"/>
            <a:ext cx="31877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495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Myths about sketching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 can’t sketch!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 need to be an artist to sketch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I’ll save time by going straight to my </a:t>
            </a:r>
            <a:r>
              <a:rPr lang="en-US" dirty="0" err="1"/>
              <a:t>dev</a:t>
            </a:r>
            <a:r>
              <a:rPr lang="en-US" dirty="0"/>
              <a:t> environment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CEE1-4BA7-AE41-B4FA-EC6288DCBE8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835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CEE1-4BA7-AE41-B4FA-EC6288DCBE8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411" y="381000"/>
            <a:ext cx="6709389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21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Sketching tools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Skitch</a:t>
            </a:r>
            <a:r>
              <a:rPr lang="en-US" dirty="0"/>
              <a:t>: http://</a:t>
            </a:r>
            <a:r>
              <a:rPr lang="en-US" dirty="0" err="1"/>
              <a:t>evernote.com</a:t>
            </a:r>
            <a:r>
              <a:rPr lang="en-US" dirty="0"/>
              <a:t>/</a:t>
            </a:r>
            <a:r>
              <a:rPr lang="en-US" dirty="0" err="1"/>
              <a:t>skitch</a:t>
            </a:r>
            <a:r>
              <a:rPr lang="en-US" dirty="0"/>
              <a:t>/</a:t>
            </a:r>
          </a:p>
          <a:p>
            <a:r>
              <a:rPr lang="en-US" dirty="0" err="1"/>
              <a:t>Balsamiq</a:t>
            </a:r>
            <a:r>
              <a:rPr lang="en-US" dirty="0"/>
              <a:t>: http://</a:t>
            </a:r>
            <a:r>
              <a:rPr lang="en-US" dirty="0" err="1"/>
              <a:t>balsamiq.com</a:t>
            </a:r>
            <a:r>
              <a:rPr lang="en-US" dirty="0"/>
              <a:t>/</a:t>
            </a:r>
          </a:p>
          <a:p>
            <a:r>
              <a:rPr lang="en-US" dirty="0"/>
              <a:t>Many apps, e.g. Paper </a:t>
            </a:r>
            <a:r>
              <a:rPr lang="en-US" sz="2000" dirty="0"/>
              <a:t>http://</a:t>
            </a:r>
            <a:r>
              <a:rPr lang="en-US" sz="2000" dirty="0" err="1"/>
              <a:t>www.fiftythree.com</a:t>
            </a:r>
            <a:r>
              <a:rPr lang="en-US" sz="2000" dirty="0"/>
              <a:t>/paper</a:t>
            </a:r>
          </a:p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CEE1-4BA7-AE41-B4FA-EC6288DCBE8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566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Sketching tools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Skitch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: http://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evernote.com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/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skitch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/</a:t>
            </a:r>
          </a:p>
          <a:p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Balsamiq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: http://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balsamiq.com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/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Many apps, e.g. Paper 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</a:rPr>
              <a:t>http://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</a:rPr>
              <a:t>www.fiftythree.com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</a:rPr>
              <a:t>/paper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But really, start with paper</a:t>
            </a:r>
          </a:p>
          <a:p>
            <a:pPr marL="457200" lvl="1" indent="0">
              <a:buNone/>
            </a:pPr>
            <a:r>
              <a:rPr lang="en-US" dirty="0"/>
              <a:t>(get fancy notebooks/pens if it helps)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CEE1-4BA7-AE41-B4FA-EC6288DCBE8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10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618F5-5E39-3441-83DE-93F3E99C4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Sketching vs. dragging stuff around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D6FB0-3E74-4C45-BB55-2560C4FE9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4958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It’s important to </a:t>
            </a:r>
            <a:r>
              <a:rPr lang="en-US" b="1"/>
              <a:t>be able to</a:t>
            </a:r>
            <a:r>
              <a:rPr lang="en-US"/>
              <a:t> start from a blank sheet of paper</a:t>
            </a:r>
          </a:p>
          <a:p>
            <a:pPr lvl="1"/>
            <a:r>
              <a:rPr lang="en-US"/>
              <a:t>Shows that you have an understanding of what you’re working with</a:t>
            </a:r>
          </a:p>
          <a:p>
            <a:pPr lvl="1"/>
            <a:r>
              <a:rPr lang="en-US"/>
              <a:t>Demands attention to detail</a:t>
            </a:r>
          </a:p>
          <a:p>
            <a:pPr lvl="1"/>
            <a:r>
              <a:rPr lang="en-US"/>
              <a:t>Ability to break rules to try new things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727DF-997F-DB45-BCC0-BF97F5D26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CEE1-4BA7-AE41-B4FA-EC6288DCBE8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7C168B-0BBD-7C4F-8092-E3DE146F8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1752600"/>
            <a:ext cx="3543300" cy="229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885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Sketching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Divergent sketching</a:t>
            </a:r>
          </a:p>
          <a:p>
            <a:pPr lvl="1"/>
            <a:r>
              <a:rPr lang="en-US" dirty="0"/>
              <a:t>Explore possible ideas</a:t>
            </a:r>
          </a:p>
          <a:p>
            <a:pPr lvl="1"/>
            <a:endParaRPr lang="en-US" dirty="0"/>
          </a:p>
          <a:p>
            <a:r>
              <a:rPr lang="en-US" dirty="0"/>
              <a:t>Convergent sketching</a:t>
            </a:r>
          </a:p>
          <a:p>
            <a:pPr lvl="1"/>
            <a:r>
              <a:rPr lang="en-US" dirty="0"/>
              <a:t>Get the details right</a:t>
            </a:r>
          </a:p>
          <a:p>
            <a:pPr lvl="1"/>
            <a:endParaRPr lang="en-US" dirty="0"/>
          </a:p>
          <a:p>
            <a:r>
              <a:rPr lang="en-US" dirty="0"/>
              <a:t>Iterative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CEE1-4BA7-AE41-B4FA-EC6288DCBE8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26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1B694-7355-9747-AB68-7CD1659E0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Divergent sketching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61D40-FCB6-1840-8B1E-83FD91197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Force yourself to represent the same thing multiple ways</a:t>
            </a:r>
          </a:p>
          <a:p>
            <a:pPr lvl="1"/>
            <a:r>
              <a:rPr lang="en-US"/>
              <a:t>Break away from your first idea / the default way of doing things</a:t>
            </a:r>
          </a:p>
          <a:p>
            <a:pPr lvl="1"/>
            <a:r>
              <a:rPr lang="en-US"/>
              <a:t>Consider what different aspects of the UI are actually doing</a:t>
            </a:r>
          </a:p>
          <a:p>
            <a:pPr lvl="2"/>
            <a:r>
              <a:rPr lang="en-US"/>
              <a:t>“Why are we sorting by alpha?”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DA3F8-F91F-D94A-98B3-2685DD551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CEE1-4BA7-AE41-B4FA-EC6288DCBE8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61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Divergent sketching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CEE1-4BA7-AE41-B4FA-EC6288DCBE8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49338"/>
          <a:stretch/>
        </p:blipFill>
        <p:spPr>
          <a:xfrm>
            <a:off x="273703" y="1600200"/>
            <a:ext cx="8489297" cy="451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827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Convergent sketching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CEE1-4BA7-AE41-B4FA-EC6288DCBE8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3998" t="8032" b="13749"/>
          <a:stretch/>
        </p:blipFill>
        <p:spPr>
          <a:xfrm>
            <a:off x="1288303" y="1389700"/>
            <a:ext cx="6863151" cy="51444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6414455"/>
            <a:ext cx="3725148" cy="46166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"/>
                <a:cs typeface="Helvetica"/>
              </a:rPr>
              <a:t>Charles Eames (</a:t>
            </a:r>
            <a:r>
              <a:rPr lang="en-US" sz="2400" dirty="0" err="1">
                <a:latin typeface="Helvetica"/>
                <a:cs typeface="Helvetica"/>
              </a:rPr>
              <a:t>dwr.com</a:t>
            </a:r>
            <a:r>
              <a:rPr lang="en-US" sz="2400" dirty="0">
                <a:latin typeface="Helvetica"/>
                <a:cs typeface="Helvetic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27235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Sketching physical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Jeff Hawkins’ (Palm) block of wood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CEE1-4BA7-AE41-B4FA-EC6288DCBE8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442" y="2743200"/>
            <a:ext cx="5926667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7384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Glass in chopsticks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CEE1-4BA7-AE41-B4FA-EC6288DCBE8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7" name="Picture 6" descr="Screen Shot 2013-09-05 at 1.06.23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406384"/>
            <a:ext cx="6934200" cy="48641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371010" y="6356350"/>
            <a:ext cx="4401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http://glass-</a:t>
            </a:r>
            <a:r>
              <a:rPr lang="en-US" dirty="0" err="1"/>
              <a:t>apps.org</a:t>
            </a:r>
            <a:r>
              <a:rPr lang="en-US" dirty="0"/>
              <a:t>/</a:t>
            </a:r>
            <a:r>
              <a:rPr lang="en-US" dirty="0" err="1"/>
              <a:t>google</a:t>
            </a:r>
            <a:r>
              <a:rPr lang="en-US" dirty="0"/>
              <a:t>-glass-prototype</a:t>
            </a:r>
          </a:p>
        </p:txBody>
      </p:sp>
    </p:spTree>
    <p:extLst>
      <p:ext uri="{BB962C8B-B14F-4D97-AF65-F5344CB8AC3E}">
        <p14:creationId xmlns:p14="http://schemas.microsoft.com/office/powerpoint/2010/main" val="4027380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Sketching for user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 foci</a:t>
            </a:r>
          </a:p>
          <a:p>
            <a:pPr lvl="1"/>
            <a:r>
              <a:rPr lang="en-US" dirty="0"/>
              <a:t>“On screen” only</a:t>
            </a:r>
          </a:p>
          <a:p>
            <a:pPr lvl="1"/>
            <a:r>
              <a:rPr lang="en-US" dirty="0"/>
              <a:t>Hand holding device</a:t>
            </a:r>
          </a:p>
          <a:p>
            <a:pPr lvl="1"/>
            <a:r>
              <a:rPr lang="en-US" dirty="0"/>
              <a:t>Person interacting with device</a:t>
            </a:r>
          </a:p>
          <a:p>
            <a:pPr lvl="1"/>
            <a:endParaRPr lang="en-US" dirty="0"/>
          </a:p>
          <a:p>
            <a:r>
              <a:rPr lang="en-US" dirty="0"/>
              <a:t>Next time we’ll practice storyboarding</a:t>
            </a:r>
          </a:p>
          <a:p>
            <a:pPr lvl="1"/>
            <a:r>
              <a:rPr lang="en-US" dirty="0"/>
              <a:t>Sequential interactions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CEE1-4BA7-AE41-B4FA-EC6288DCBE8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149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C6C44-B0BE-074C-B28A-2D10A21F1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Sketching warm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47AA7-9418-874B-ADCC-39175A38B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Take out a mobile device</a:t>
            </a:r>
          </a:p>
          <a:p>
            <a:r>
              <a:rPr lang="en-US"/>
              <a:t>Load up a web page</a:t>
            </a:r>
          </a:p>
          <a:p>
            <a:r>
              <a:rPr lang="en-US"/>
              <a:t>Sketch the device and the screen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C13D2-B754-A04E-A785-9DDD9295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CEE1-4BA7-AE41-B4FA-EC6288DCBE8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2622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Sketching for user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  <a:p>
            <a:pPr lvl="1"/>
            <a:r>
              <a:rPr lang="en-US" dirty="0"/>
              <a:t>Lay out the user interface</a:t>
            </a:r>
          </a:p>
          <a:p>
            <a:pPr lvl="1"/>
            <a:r>
              <a:rPr lang="en-US" dirty="0"/>
              <a:t>Figure out what fits or doesn’t fit</a:t>
            </a:r>
          </a:p>
          <a:p>
            <a:pPr lvl="1"/>
            <a:r>
              <a:rPr lang="en-US" dirty="0"/>
              <a:t>Set high level “structure” of the interaction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CEE1-4BA7-AE41-B4FA-EC6288DCBE8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231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Divergent sketching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often difficult to come up with multiple perspectives on a single idea</a:t>
            </a:r>
          </a:p>
          <a:p>
            <a:endParaRPr lang="en-US" dirty="0"/>
          </a:p>
          <a:p>
            <a:r>
              <a:rPr lang="en-US" dirty="0"/>
              <a:t>Easy to get “locked in” on a single perspective</a:t>
            </a:r>
          </a:p>
          <a:p>
            <a:endParaRPr lang="en-US" dirty="0"/>
          </a:p>
          <a:p>
            <a:r>
              <a:rPr lang="en-US" dirty="0"/>
              <a:t>Really need to force yourself to consider other perspectives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CEE1-4BA7-AE41-B4FA-EC6288DCBE8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797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sketch out an app for adopting pets</a:t>
            </a:r>
          </a:p>
          <a:p>
            <a:endParaRPr lang="en-US" dirty="0"/>
          </a:p>
          <a:p>
            <a:r>
              <a:rPr lang="en-US" dirty="0"/>
              <a:t>Divergent sketching, 5 ideas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CEE1-4BA7-AE41-B4FA-EC6288DCBE8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6646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1312"/>
          <a:stretch/>
        </p:blipFill>
        <p:spPr>
          <a:xfrm>
            <a:off x="905329" y="-28035"/>
            <a:ext cx="7019471" cy="28712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-1" r="1140"/>
          <a:stretch/>
        </p:blipFill>
        <p:spPr>
          <a:xfrm>
            <a:off x="990600" y="2811672"/>
            <a:ext cx="7315200" cy="405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4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try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a mobile phone app for buying textbooks</a:t>
            </a:r>
          </a:p>
          <a:p>
            <a:endParaRPr lang="en-US" dirty="0"/>
          </a:p>
          <a:p>
            <a:r>
              <a:rPr lang="en-US" dirty="0"/>
              <a:t>Come up with at least 3 designs</a:t>
            </a:r>
          </a:p>
          <a:p>
            <a:pPr lvl="1"/>
            <a:r>
              <a:rPr lang="en-US" dirty="0"/>
              <a:t>Show major interactions</a:t>
            </a:r>
          </a:p>
          <a:p>
            <a:endParaRPr lang="en-US" dirty="0"/>
          </a:p>
          <a:p>
            <a:r>
              <a:rPr lang="en-US" dirty="0"/>
              <a:t>Sketch them large (we’ll show them off)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CEE1-4BA7-AE41-B4FA-EC6288DCBE8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570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Speed – how can we accomplish the task as quickly as possible?</a:t>
            </a:r>
          </a:p>
          <a:p>
            <a:pPr lvl="1"/>
            <a:r>
              <a:rPr lang="en-US" dirty="0"/>
              <a:t>Don’t ask things you don’t need to know</a:t>
            </a:r>
          </a:p>
          <a:p>
            <a:pPr lvl="1"/>
            <a:r>
              <a:rPr lang="en-US" dirty="0"/>
              <a:t>Guess when you can</a:t>
            </a:r>
          </a:p>
          <a:p>
            <a:pPr lvl="1"/>
            <a:r>
              <a:rPr lang="en-US" dirty="0"/>
              <a:t>Ask the most discriminating questions first</a:t>
            </a:r>
          </a:p>
          <a:p>
            <a:endParaRPr lang="en-US" dirty="0"/>
          </a:p>
          <a:p>
            <a:r>
              <a:rPr lang="en-US" dirty="0"/>
              <a:t>Make it fun – how can we make interaction itself fun or enjoyable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CEE1-4BA7-AE41-B4FA-EC6288DCBE8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201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Convergent sketching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Now, refine your design</a:t>
            </a:r>
          </a:p>
          <a:p>
            <a:pPr lvl="1"/>
            <a:r>
              <a:rPr lang="en-US" dirty="0"/>
              <a:t>Clean up sketch</a:t>
            </a:r>
          </a:p>
          <a:p>
            <a:pPr lvl="1"/>
            <a:r>
              <a:rPr lang="en-US" dirty="0"/>
              <a:t>Clarify relationship between elements</a:t>
            </a:r>
          </a:p>
          <a:p>
            <a:pPr lvl="1"/>
            <a:endParaRPr lang="en-US" dirty="0"/>
          </a:p>
          <a:p>
            <a:r>
              <a:rPr lang="en-US" dirty="0"/>
              <a:t>May combine elements from different divergent sketches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CEE1-4BA7-AE41-B4FA-EC6288DCBE8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6793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for sketching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Make LOTS of sketches</a:t>
            </a:r>
          </a:p>
          <a:p>
            <a:endParaRPr lang="en-US" dirty="0"/>
          </a:p>
          <a:p>
            <a:r>
              <a:rPr lang="en-US" dirty="0"/>
              <a:t>Hang them on the wall</a:t>
            </a:r>
          </a:p>
          <a:p>
            <a:pPr lvl="1"/>
            <a:endParaRPr lang="en-US" dirty="0"/>
          </a:p>
          <a:p>
            <a:r>
              <a:rPr lang="en-US" dirty="0"/>
              <a:t>Sketch neatly, so you can go back to your sketches later (and share them)</a:t>
            </a:r>
          </a:p>
          <a:p>
            <a:endParaRPr lang="en-US" dirty="0"/>
          </a:p>
          <a:p>
            <a:r>
              <a:rPr lang="en-US" dirty="0"/>
              <a:t>OK to take shortcuts (trace images, reuse elements across sketches)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CEE1-4BA7-AE41-B4FA-EC6288DCBE8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5137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Sketching hacks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61137-C182-764B-834E-B256B5F15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Practice drawing common elements (devices, hands, etc)</a:t>
            </a:r>
          </a:p>
          <a:p>
            <a:r>
              <a:rPr lang="en-US"/>
              <a:t>Trace things where it will help</a:t>
            </a:r>
          </a:p>
          <a:p>
            <a:r>
              <a:rPr lang="en-US"/>
              <a:t>Star people vs. stick figures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0FB56013-B943-42BA-886F-6F9D4EB85E9D}" type="slidenum">
              <a:rPr lang="en-US" smtClean="0"/>
              <a:t>30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4220607" y="4799655"/>
            <a:ext cx="4665185" cy="144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786614"/>
      </p:ext>
    </p:extLst>
  </p:cSld>
  <p:clrMapOvr>
    <a:masterClrMapping/>
  </p:clrMapOvr>
</p:sld>
</file>

<file path=ppt/theme/theme1.xml><?xml version="1.0" encoding="utf-8"?>
<a:theme xmlns:a="http://schemas.openxmlformats.org/drawingml/2006/main" name="Black">
  <a:themeElements>
    <a:clrScheme name="Custom 1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6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1-intro</Template>
  <TotalTime>6302</TotalTime>
  <Words>797</Words>
  <Application>Microsoft Macintosh PowerPoint</Application>
  <PresentationFormat>On-screen Show (4:3)</PresentationFormat>
  <Paragraphs>164</Paragraphs>
  <Slides>30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Helvetica</vt:lpstr>
      <vt:lpstr>Helvetica Neue</vt:lpstr>
      <vt:lpstr>Black</vt:lpstr>
      <vt:lpstr>Sketching User Interfaces CSCI 3002 – Fall 2019</vt:lpstr>
      <vt:lpstr>But first</vt:lpstr>
      <vt:lpstr>Sketching</vt:lpstr>
      <vt:lpstr>Sketching</vt:lpstr>
      <vt:lpstr>What is sketching?</vt:lpstr>
      <vt:lpstr>Why sketch</vt:lpstr>
      <vt:lpstr>PowerPoint Presentation</vt:lpstr>
      <vt:lpstr>PowerPoint Presentation</vt:lpstr>
      <vt:lpstr>Myths about sketching</vt:lpstr>
      <vt:lpstr>PowerPoint Presentation</vt:lpstr>
      <vt:lpstr>Sketching tools</vt:lpstr>
      <vt:lpstr>Sketching tools</vt:lpstr>
      <vt:lpstr>Sketching vs. dragging stuff around</vt:lpstr>
      <vt:lpstr>Sketching process</vt:lpstr>
      <vt:lpstr>Divergent sketching</vt:lpstr>
      <vt:lpstr>Divergent sketching</vt:lpstr>
      <vt:lpstr>Convergent sketching</vt:lpstr>
      <vt:lpstr>Sketching physical objects</vt:lpstr>
      <vt:lpstr>Google Glass in chopsticks</vt:lpstr>
      <vt:lpstr>Sketching for user interfaces</vt:lpstr>
      <vt:lpstr>Sketching warm up</vt:lpstr>
      <vt:lpstr>Sketching for user interfaces</vt:lpstr>
      <vt:lpstr>Divergent sketching</vt:lpstr>
      <vt:lpstr>Example</vt:lpstr>
      <vt:lpstr>PowerPoint Presentation</vt:lpstr>
      <vt:lpstr>You try it</vt:lpstr>
      <vt:lpstr>Other factors</vt:lpstr>
      <vt:lpstr>Convergent sketching</vt:lpstr>
      <vt:lpstr>Tips for sketching</vt:lpstr>
      <vt:lpstr>Sketching hacks</vt:lpstr>
    </vt:vector>
  </TitlesOfParts>
  <Company>UMBC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Amy Hurst</dc:creator>
  <cp:lastModifiedBy>Shaun Kane</cp:lastModifiedBy>
  <cp:revision>469</cp:revision>
  <cp:lastPrinted>2010-09-02T19:34:51Z</cp:lastPrinted>
  <dcterms:created xsi:type="dcterms:W3CDTF">2010-09-02T02:04:53Z</dcterms:created>
  <dcterms:modified xsi:type="dcterms:W3CDTF">2019-09-26T16:55:25Z</dcterms:modified>
</cp:coreProperties>
</file>